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1" r:id="rId3"/>
    <p:sldId id="266" r:id="rId4"/>
    <p:sldId id="267" r:id="rId5"/>
    <p:sldId id="268" r:id="rId6"/>
    <p:sldId id="269" r:id="rId7"/>
    <p:sldId id="270" r:id="rId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78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smtClean="0"/>
              <a:t>Klicka här för att ändra format på underrubrik i bakgrunden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7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4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6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1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9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6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7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2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6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2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1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mtClean="0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8A92D-A4CB-406E-8F0E-F6D9042778F2}" type="datetimeFigureOut">
              <a:rPr lang="en-US" smtClean="0"/>
              <a:t>9/30/2016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B22B8-91CF-4E2D-AE76-8AE12F68F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0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1069688"/>
            <a:ext cx="6200775" cy="2762250"/>
          </a:xfrm>
          <a:prstGeom prst="rect">
            <a:avLst/>
          </a:prstGeom>
        </p:spPr>
      </p:pic>
      <p:sp>
        <p:nvSpPr>
          <p:cNvPr id="5" name="Rubrik 1"/>
          <p:cNvSpPr txBox="1">
            <a:spLocks/>
          </p:cNvSpPr>
          <p:nvPr/>
        </p:nvSpPr>
        <p:spPr>
          <a:xfrm>
            <a:off x="1524000" y="2088952"/>
            <a:ext cx="9144000" cy="1793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sz="8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BoomRoom</a:t>
            </a:r>
            <a:endParaRPr 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6" name="Underrubrik 2"/>
          <p:cNvSpPr txBox="1">
            <a:spLocks/>
          </p:cNvSpPr>
          <p:nvPr/>
        </p:nvSpPr>
        <p:spPr>
          <a:xfrm>
            <a:off x="2995612" y="3831938"/>
            <a:ext cx="6200776" cy="183284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v-SE" smtClean="0"/>
          </a:p>
          <a:p>
            <a:r>
              <a:rPr lang="sv-SE" smtClean="0"/>
              <a:t>A new series of full-spectrum sound products, light-weight and easy to fit into existing walls, corners and ventilations,</a:t>
            </a:r>
          </a:p>
          <a:p>
            <a:r>
              <a:rPr lang="sv-SE" smtClean="0"/>
              <a:t>for homes, schools, conference rooms, studios and theaters.</a:t>
            </a:r>
          </a:p>
          <a:p>
            <a:r>
              <a:rPr lang="sv-SE" smtClean="0"/>
              <a:t>Join’t development between Quflow and LampeiDesign</a:t>
            </a:r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val="131142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Customers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Problems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noise</a:t>
            </a:r>
            <a:r>
              <a:rPr lang="sv-SE" dirty="0" smtClean="0"/>
              <a:t> from A/C or ventilation</a:t>
            </a:r>
          </a:p>
          <a:p>
            <a:r>
              <a:rPr lang="sv-SE" dirty="0" err="1" smtClean="0"/>
              <a:t>Willing</a:t>
            </a:r>
            <a:r>
              <a:rPr lang="sv-SE" dirty="0" smtClean="0"/>
              <a:t> to </a:t>
            </a:r>
            <a:r>
              <a:rPr lang="sv-SE" dirty="0" err="1" smtClean="0"/>
              <a:t>pay</a:t>
            </a:r>
            <a:r>
              <a:rPr lang="sv-SE" dirty="0" smtClean="0"/>
              <a:t> for </a:t>
            </a:r>
            <a:r>
              <a:rPr lang="sv-SE" dirty="0" err="1" smtClean="0"/>
              <a:t>better</a:t>
            </a:r>
            <a:r>
              <a:rPr lang="sv-SE" dirty="0" smtClean="0"/>
              <a:t> </a:t>
            </a:r>
            <a:r>
              <a:rPr lang="sv-SE" dirty="0" err="1" smtClean="0"/>
              <a:t>sleep</a:t>
            </a:r>
            <a:r>
              <a:rPr lang="sv-SE" dirty="0" smtClean="0"/>
              <a:t>/relaxation </a:t>
            </a:r>
            <a:r>
              <a:rPr lang="sv-SE" dirty="0"/>
              <a:t>or </a:t>
            </a:r>
            <a:r>
              <a:rPr lang="sv-SE" dirty="0" err="1" smtClean="0"/>
              <a:t>more</a:t>
            </a:r>
            <a:r>
              <a:rPr lang="sv-SE" dirty="0" smtClean="0"/>
              <a:t> </a:t>
            </a:r>
            <a:r>
              <a:rPr lang="sv-SE" dirty="0" err="1" smtClean="0"/>
              <a:t>nuances</a:t>
            </a:r>
            <a:r>
              <a:rPr lang="sv-SE" dirty="0" smtClean="0"/>
              <a:t> in sound</a:t>
            </a:r>
          </a:p>
          <a:p>
            <a:r>
              <a:rPr lang="sv-SE" dirty="0" smtClean="0"/>
              <a:t>90% </a:t>
            </a:r>
            <a:r>
              <a:rPr lang="sv-SE" dirty="0" err="1" smtClean="0"/>
              <a:t>have</a:t>
            </a:r>
            <a:r>
              <a:rPr lang="sv-SE" dirty="0" smtClean="0"/>
              <a:t> problem,  20% </a:t>
            </a:r>
            <a:r>
              <a:rPr lang="sv-SE" dirty="0" err="1" smtClean="0"/>
              <a:t>knows</a:t>
            </a:r>
            <a:r>
              <a:rPr lang="sv-SE" dirty="0" smtClean="0"/>
              <a:t> it, 5% </a:t>
            </a:r>
            <a:r>
              <a:rPr lang="sv-SE" dirty="0" err="1" smtClean="0"/>
              <a:t>buys</a:t>
            </a:r>
            <a:r>
              <a:rPr lang="sv-SE" dirty="0" smtClean="0"/>
              <a:t> </a:t>
            </a:r>
            <a:r>
              <a:rPr lang="sv-SE" dirty="0" err="1" smtClean="0"/>
              <a:t>low</a:t>
            </a:r>
            <a:r>
              <a:rPr lang="sv-SE" dirty="0" smtClean="0"/>
              <a:t>-dB </a:t>
            </a:r>
            <a:r>
              <a:rPr lang="sv-SE" dirty="0" err="1" smtClean="0"/>
              <a:t>products</a:t>
            </a:r>
            <a:endParaRPr lang="en-US" dirty="0"/>
          </a:p>
        </p:txBody>
      </p:sp>
      <p:sp>
        <p:nvSpPr>
          <p:cNvPr id="4" name="AutoShape 4" descr="Image result for anechoic chamber cell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11155"/>
            <a:ext cx="10515600" cy="2858012"/>
          </a:xfrm>
          <a:prstGeom prst="rect">
            <a:avLst/>
          </a:prstGeom>
        </p:spPr>
      </p:pic>
      <p:pic>
        <p:nvPicPr>
          <p:cNvPr id="1026" name="Picture 2" descr="http://esionx.com/media/filer_public/f9/10/f9100eb0-f352-46eb-a122-f527a0bd69ea/1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11155"/>
            <a:ext cx="4291208" cy="285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ircam.fr/fileadmin/sites/WWW_Ircam/images/batiment/espaces/anecho/03-anecho-cell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578" y="3411155"/>
            <a:ext cx="4077222" cy="286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54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</a:t>
            </a:r>
            <a:r>
              <a:rPr lang="sv-SE" dirty="0" smtClean="0"/>
              <a:t>roblem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906033" y="1825625"/>
            <a:ext cx="7447767" cy="2439487"/>
          </a:xfrm>
        </p:spPr>
        <p:txBody>
          <a:bodyPr>
            <a:normAutofit/>
          </a:bodyPr>
          <a:lstStyle/>
          <a:p>
            <a:r>
              <a:rPr lang="en-US" dirty="0" smtClean="0"/>
              <a:t>Noise can </a:t>
            </a:r>
            <a:r>
              <a:rPr lang="en-US" dirty="0"/>
              <a:t>not </a:t>
            </a:r>
            <a:r>
              <a:rPr lang="en-US" dirty="0" smtClean="0"/>
              <a:t>be eliminated in </a:t>
            </a:r>
            <a:r>
              <a:rPr lang="en-US" dirty="0"/>
              <a:t>AC and </a:t>
            </a:r>
            <a:r>
              <a:rPr lang="en-US" dirty="0" smtClean="0"/>
              <a:t>ventilation (forced air systems)</a:t>
            </a:r>
          </a:p>
          <a:p>
            <a:pPr lvl="1"/>
            <a:r>
              <a:rPr lang="en-US" dirty="0" smtClean="0"/>
              <a:t>Noise is </a:t>
            </a:r>
            <a:r>
              <a:rPr lang="en-US" dirty="0"/>
              <a:t>often peaking in the 10-100 Hz </a:t>
            </a:r>
            <a:r>
              <a:rPr lang="en-US" dirty="0" smtClean="0"/>
              <a:t>range</a:t>
            </a:r>
          </a:p>
          <a:p>
            <a:pPr lvl="1"/>
            <a:r>
              <a:rPr lang="sv-SE" dirty="0" err="1" smtClean="0"/>
              <a:t>Noice</a:t>
            </a:r>
            <a:r>
              <a:rPr lang="sv-SE" dirty="0" smtClean="0"/>
              <a:t> </a:t>
            </a:r>
            <a:r>
              <a:rPr lang="sv-SE" dirty="0" err="1" smtClean="0"/>
              <a:t>cancellation</a:t>
            </a:r>
            <a:r>
              <a:rPr lang="sv-SE" dirty="0" smtClean="0"/>
              <a:t> </a:t>
            </a:r>
            <a:r>
              <a:rPr lang="sv-SE" dirty="0" err="1" smtClean="0"/>
              <a:t>does</a:t>
            </a:r>
            <a:r>
              <a:rPr lang="sv-SE" dirty="0" smtClean="0"/>
              <a:t> not </a:t>
            </a:r>
            <a:r>
              <a:rPr lang="sv-SE" dirty="0" err="1" smtClean="0"/>
              <a:t>work</a:t>
            </a:r>
            <a:r>
              <a:rPr lang="sv-SE" dirty="0" smtClean="0"/>
              <a:t> </a:t>
            </a:r>
            <a:r>
              <a:rPr lang="sv-SE" dirty="0" err="1" smtClean="0"/>
              <a:t>well</a:t>
            </a:r>
            <a:r>
              <a:rPr lang="sv-SE" dirty="0" smtClean="0"/>
              <a:t> </a:t>
            </a:r>
            <a:r>
              <a:rPr lang="sv-SE" dirty="0" err="1" smtClean="0"/>
              <a:t>below</a:t>
            </a:r>
            <a:r>
              <a:rPr lang="sv-SE" dirty="0" smtClean="0"/>
              <a:t> 100 Hz</a:t>
            </a:r>
            <a:endParaRPr lang="en-US" dirty="0" smtClean="0"/>
          </a:p>
        </p:txBody>
      </p:sp>
      <p:pic>
        <p:nvPicPr>
          <p:cNvPr id="4" name="Picture 8" descr="Image result for indoor A/C ventilation noise characteristic spectr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3311220" cy="223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latshållare för innehåll 2"/>
          <p:cNvSpPr txBox="1">
            <a:spLocks/>
          </p:cNvSpPr>
          <p:nvPr/>
        </p:nvSpPr>
        <p:spPr>
          <a:xfrm>
            <a:off x="838200" y="4408836"/>
            <a:ext cx="10515600" cy="211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200"/>
              </a:spcBef>
              <a:spcAft>
                <a:spcPts val="2400"/>
              </a:spcAft>
              <a:buFont typeface="Arial" panose="020B0604020202020204" pitchFamily="34" charset="0"/>
              <a:buNone/>
            </a:pPr>
            <a:r>
              <a:rPr lang="sv-SE" sz="4400" dirty="0" err="1" smtClean="0">
                <a:latin typeface="+mj-lt"/>
              </a:rPr>
              <a:t>Need</a:t>
            </a:r>
            <a:endParaRPr lang="sv-SE" sz="4400" dirty="0" smtClean="0">
              <a:latin typeface="+mj-lt"/>
            </a:endParaRPr>
          </a:p>
          <a:p>
            <a:r>
              <a:rPr lang="sv-SE" dirty="0" smtClean="0"/>
              <a:t>A new, full-</a:t>
            </a:r>
            <a:r>
              <a:rPr lang="sv-SE" dirty="0" err="1" smtClean="0"/>
              <a:t>spectrum</a:t>
            </a:r>
            <a:r>
              <a:rPr lang="sv-SE" dirty="0" smtClean="0"/>
              <a:t>, </a:t>
            </a:r>
            <a:r>
              <a:rPr lang="sv-SE" dirty="0" err="1" smtClean="0"/>
              <a:t>efficient</a:t>
            </a:r>
            <a:r>
              <a:rPr lang="sv-SE" dirty="0" smtClean="0"/>
              <a:t> </a:t>
            </a:r>
            <a:r>
              <a:rPr lang="sv-SE" dirty="0" err="1" smtClean="0"/>
              <a:t>technology</a:t>
            </a:r>
            <a:r>
              <a:rPr lang="sv-SE" dirty="0" smtClean="0"/>
              <a:t> for </a:t>
            </a:r>
            <a:r>
              <a:rPr lang="sv-SE" dirty="0" err="1" smtClean="0"/>
              <a:t>cancelling</a:t>
            </a:r>
            <a:r>
              <a:rPr lang="sv-SE" dirty="0" smtClean="0"/>
              <a:t> </a:t>
            </a:r>
            <a:r>
              <a:rPr lang="sv-SE" dirty="0" err="1" smtClean="0"/>
              <a:t>noise</a:t>
            </a:r>
            <a:r>
              <a:rPr lang="sv-SE" dirty="0" smtClean="0"/>
              <a:t> in </a:t>
            </a:r>
            <a:r>
              <a:rPr lang="sv-SE" dirty="0" err="1" smtClean="0"/>
              <a:t>forced</a:t>
            </a:r>
            <a:r>
              <a:rPr lang="sv-SE" dirty="0" smtClean="0"/>
              <a:t> air </a:t>
            </a:r>
            <a:r>
              <a:rPr lang="sv-SE" dirty="0" err="1" smtClean="0"/>
              <a:t>flows</a:t>
            </a:r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val="150852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Solution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1" y="1825625"/>
            <a:ext cx="7047977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Membrane valves replace </a:t>
            </a:r>
            <a:r>
              <a:rPr lang="en-US" dirty="0"/>
              <a:t>the normal </a:t>
            </a:r>
            <a:r>
              <a:rPr lang="en-US" dirty="0" smtClean="0"/>
              <a:t>vents in a </a:t>
            </a:r>
            <a:r>
              <a:rPr lang="en-US" dirty="0"/>
              <a:t>r</a:t>
            </a:r>
            <a:r>
              <a:rPr lang="en-US" dirty="0" smtClean="0"/>
              <a:t>oom or A/C unit</a:t>
            </a:r>
          </a:p>
          <a:p>
            <a:r>
              <a:rPr lang="en-US" dirty="0"/>
              <a:t>The valve </a:t>
            </a:r>
            <a:r>
              <a:rPr lang="en-US" dirty="0" smtClean="0"/>
              <a:t>membranes modulates </a:t>
            </a:r>
            <a:r>
              <a:rPr lang="en-US" dirty="0"/>
              <a:t>the air flow for </a:t>
            </a:r>
            <a:r>
              <a:rPr lang="en-US" dirty="0" smtClean="0"/>
              <a:t>cancellation of noise </a:t>
            </a:r>
          </a:p>
          <a:p>
            <a:r>
              <a:rPr lang="sv-SE" dirty="0" smtClean="0"/>
              <a:t>Operates </a:t>
            </a:r>
            <a:r>
              <a:rPr lang="sv-SE" dirty="0" err="1" smtClean="0"/>
              <a:t>well</a:t>
            </a:r>
            <a:r>
              <a:rPr lang="sv-SE" dirty="0" smtClean="0"/>
              <a:t> and </a:t>
            </a:r>
            <a:r>
              <a:rPr lang="sv-SE" dirty="0" err="1" smtClean="0"/>
              <a:t>without</a:t>
            </a:r>
            <a:r>
              <a:rPr lang="sv-SE" dirty="0" smtClean="0"/>
              <a:t> </a:t>
            </a:r>
            <a:r>
              <a:rPr lang="sv-SE" dirty="0" err="1" smtClean="0"/>
              <a:t>any</a:t>
            </a:r>
            <a:r>
              <a:rPr lang="sv-SE" dirty="0" smtClean="0"/>
              <a:t> </a:t>
            </a:r>
            <a:r>
              <a:rPr lang="sv-SE" dirty="0" err="1" smtClean="0"/>
              <a:t>significant</a:t>
            </a:r>
            <a:r>
              <a:rPr lang="sv-SE" dirty="0" smtClean="0"/>
              <a:t> </a:t>
            </a:r>
            <a:r>
              <a:rPr lang="sv-SE" dirty="0" err="1" smtClean="0"/>
              <a:t>energy</a:t>
            </a:r>
            <a:r>
              <a:rPr lang="sv-SE" dirty="0" smtClean="0"/>
              <a:t> loss from DC </a:t>
            </a:r>
            <a:r>
              <a:rPr lang="sv-SE" dirty="0"/>
              <a:t>to ~2 </a:t>
            </a:r>
            <a:r>
              <a:rPr lang="sv-SE" dirty="0" smtClean="0"/>
              <a:t>kHz</a:t>
            </a:r>
          </a:p>
          <a:p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 err="1" smtClean="0"/>
              <a:t>also</a:t>
            </a:r>
            <a:r>
              <a:rPr lang="sv-SE" dirty="0" smtClean="0"/>
              <a:t> </a:t>
            </a:r>
            <a:r>
              <a:rPr lang="sv-SE" dirty="0" err="1" smtClean="0"/>
              <a:t>produce</a:t>
            </a:r>
            <a:r>
              <a:rPr lang="sv-SE" dirty="0" smtClean="0"/>
              <a:t> full-</a:t>
            </a:r>
            <a:r>
              <a:rPr lang="sv-SE" dirty="0" err="1" smtClean="0"/>
              <a:t>spectrum</a:t>
            </a:r>
            <a:r>
              <a:rPr lang="sv-SE" dirty="0" smtClean="0"/>
              <a:t> sound </a:t>
            </a:r>
            <a:r>
              <a:rPr lang="sv-SE" dirty="0" smtClean="0">
                <a:sym typeface="Wingdings" panose="05000000000000000000" pitchFamily="2" charset="2"/>
              </a:rPr>
              <a:t></a:t>
            </a:r>
            <a:endParaRPr lang="sv-SE" dirty="0" smtClean="0"/>
          </a:p>
          <a:p>
            <a:r>
              <a:rPr lang="sv-SE" dirty="0" err="1" smtClean="0"/>
              <a:t>Reduces</a:t>
            </a:r>
            <a:r>
              <a:rPr lang="sv-SE" dirty="0" smtClean="0"/>
              <a:t> the </a:t>
            </a:r>
            <a:r>
              <a:rPr lang="sv-SE" dirty="0" err="1" smtClean="0"/>
              <a:t>noise</a:t>
            </a:r>
            <a:r>
              <a:rPr lang="sv-SE" dirty="0" smtClean="0"/>
              <a:t> </a:t>
            </a:r>
            <a:r>
              <a:rPr lang="sv-SE" dirty="0" err="1" smtClean="0"/>
              <a:t>level</a:t>
            </a:r>
            <a:r>
              <a:rPr lang="sv-SE" dirty="0" smtClean="0"/>
              <a:t> by a </a:t>
            </a:r>
            <a:r>
              <a:rPr lang="sv-SE" dirty="0" err="1" smtClean="0"/>
              <a:t>factor</a:t>
            </a:r>
            <a:r>
              <a:rPr lang="sv-SE" dirty="0" smtClean="0"/>
              <a:t> 10-15 dB:</a:t>
            </a:r>
            <a:br>
              <a:rPr lang="sv-SE" dirty="0" smtClean="0"/>
            </a:br>
            <a:r>
              <a:rPr lang="sv-SE" dirty="0" smtClean="0"/>
              <a:t>50</a:t>
            </a:r>
            <a:r>
              <a:rPr lang="sv-SE" dirty="0" smtClean="0">
                <a:sym typeface="Wingdings" panose="05000000000000000000" pitchFamily="2" charset="2"/>
              </a:rPr>
              <a:t>35 dB(A) for A/C, 4025 dB(A) for </a:t>
            </a:r>
            <a:r>
              <a:rPr lang="sv-SE" dirty="0" err="1" smtClean="0">
                <a:sym typeface="Wingdings" panose="05000000000000000000" pitchFamily="2" charset="2"/>
              </a:rPr>
              <a:t>vent</a:t>
            </a:r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78" y="1691980"/>
            <a:ext cx="3467622" cy="4484983"/>
          </a:xfrm>
          <a:prstGeom prst="rect">
            <a:avLst/>
          </a:prstGeom>
        </p:spPr>
      </p:pic>
      <p:sp>
        <p:nvSpPr>
          <p:cNvPr id="6" name="textruta 5"/>
          <p:cNvSpPr txBox="1"/>
          <p:nvPr/>
        </p:nvSpPr>
        <p:spPr>
          <a:xfrm>
            <a:off x="10772383" y="592481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 Hz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07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Market </a:t>
            </a:r>
            <a:r>
              <a:rPr lang="sv-SE" dirty="0" err="1" smtClean="0"/>
              <a:t>estimates</a:t>
            </a:r>
            <a:endParaRPr lang="en-US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idx="1"/>
          </p:nvPr>
        </p:nvSpPr>
        <p:spPr>
          <a:xfrm>
            <a:off x="4017147" y="1423988"/>
            <a:ext cx="3504160" cy="823912"/>
          </a:xfrm>
        </p:spPr>
        <p:txBody>
          <a:bodyPr/>
          <a:lstStyle/>
          <a:p>
            <a:r>
              <a:rPr lang="sv-SE" dirty="0" err="1" smtClean="0"/>
              <a:t>High</a:t>
            </a:r>
            <a:r>
              <a:rPr lang="sv-SE" dirty="0" smtClean="0"/>
              <a:t>-end ventilation (SW)</a:t>
            </a:r>
            <a:endParaRPr lang="en-US" dirty="0"/>
          </a:p>
        </p:txBody>
      </p:sp>
      <p:sp>
        <p:nvSpPr>
          <p:cNvPr id="9" name="Platshållare för text 3"/>
          <p:cNvSpPr>
            <a:spLocks noGrp="1"/>
          </p:cNvSpPr>
          <p:nvPr>
            <p:ph type="body" idx="1"/>
          </p:nvPr>
        </p:nvSpPr>
        <p:spPr>
          <a:xfrm>
            <a:off x="8041674" y="1423988"/>
            <a:ext cx="3495729" cy="823912"/>
          </a:xfrm>
        </p:spPr>
        <p:txBody>
          <a:bodyPr/>
          <a:lstStyle/>
          <a:p>
            <a:r>
              <a:rPr lang="sv-SE" dirty="0" err="1" smtClean="0"/>
              <a:t>High</a:t>
            </a:r>
            <a:r>
              <a:rPr lang="sv-SE" dirty="0" smtClean="0"/>
              <a:t>-end A/C (IP &amp; </a:t>
            </a:r>
            <a:r>
              <a:rPr lang="sv-SE" dirty="0" err="1" smtClean="0"/>
              <a:t>apps</a:t>
            </a:r>
            <a:r>
              <a:rPr lang="sv-SE" dirty="0" smtClean="0"/>
              <a:t>)</a:t>
            </a:r>
            <a:endParaRPr lang="en-US" dirty="0"/>
          </a:p>
        </p:txBody>
      </p:sp>
      <p:sp>
        <p:nvSpPr>
          <p:cNvPr id="11" name="Platshållare för text 3"/>
          <p:cNvSpPr>
            <a:spLocks noGrp="1"/>
          </p:cNvSpPr>
          <p:nvPr>
            <p:ph type="body" idx="1"/>
          </p:nvPr>
        </p:nvSpPr>
        <p:spPr>
          <a:xfrm>
            <a:off x="379163" y="1447800"/>
            <a:ext cx="3495729" cy="823912"/>
          </a:xfrm>
        </p:spPr>
        <p:txBody>
          <a:bodyPr/>
          <a:lstStyle/>
          <a:p>
            <a:r>
              <a:rPr lang="sv-SE" dirty="0" err="1" smtClean="0"/>
              <a:t>High</a:t>
            </a:r>
            <a:r>
              <a:rPr lang="sv-SE" dirty="0" smtClean="0"/>
              <a:t>-end </a:t>
            </a:r>
            <a:r>
              <a:rPr lang="sv-SE" dirty="0" err="1" smtClean="0"/>
              <a:t>HiFi</a:t>
            </a:r>
            <a:r>
              <a:rPr lang="sv-SE" dirty="0" smtClean="0"/>
              <a:t> (HW)</a:t>
            </a:r>
            <a:endParaRPr lang="en-US" dirty="0"/>
          </a:p>
        </p:txBody>
      </p:sp>
      <p:pic>
        <p:nvPicPr>
          <p:cNvPr id="13" name="Platshållare för innehåll 12"/>
          <p:cNvPicPr>
            <a:picLocks noGrp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51"/>
          <a:stretch/>
        </p:blipFill>
        <p:spPr bwMode="auto">
          <a:xfrm>
            <a:off x="4017147" y="2346873"/>
            <a:ext cx="3198024" cy="19334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latshållare för innehåll 1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42275" y="2346872"/>
            <a:ext cx="2827577" cy="1938785"/>
          </a:xfrm>
          <a:prstGeom prst="rect">
            <a:avLst/>
          </a:prstGeom>
        </p:spPr>
      </p:pic>
      <p:pic>
        <p:nvPicPr>
          <p:cNvPr id="21" name="Platshållare för innehåll 20"/>
          <p:cNvPicPr>
            <a:picLocks noGrp="1"/>
          </p:cNvPicPr>
          <p:nvPr>
            <p:ph sz="half" idx="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48"/>
          <a:stretch/>
        </p:blipFill>
        <p:spPr>
          <a:xfrm>
            <a:off x="379163" y="2370684"/>
            <a:ext cx="1741118" cy="1937144"/>
          </a:xfrm>
          <a:prstGeom prst="rect">
            <a:avLst/>
          </a:prstGeom>
        </p:spPr>
      </p:pic>
      <p:sp>
        <p:nvSpPr>
          <p:cNvPr id="22" name="Platshållare för text 3"/>
          <p:cNvSpPr>
            <a:spLocks noGrp="1"/>
          </p:cNvSpPr>
          <p:nvPr>
            <p:ph type="body" idx="1"/>
          </p:nvPr>
        </p:nvSpPr>
        <p:spPr>
          <a:xfrm>
            <a:off x="4017147" y="4280324"/>
            <a:ext cx="3633947" cy="1831985"/>
          </a:xfrm>
        </p:spPr>
        <p:txBody>
          <a:bodyPr>
            <a:normAutofit fontScale="92500" lnSpcReduction="20000"/>
          </a:bodyPr>
          <a:lstStyle/>
          <a:p>
            <a:r>
              <a:rPr lang="sv-SE" dirty="0" smtClean="0"/>
              <a:t>Swegon </a:t>
            </a:r>
            <a:r>
              <a:rPr lang="sv-SE" dirty="0" err="1" smtClean="0"/>
              <a:t>etc</a:t>
            </a:r>
            <a:r>
              <a:rPr lang="sv-SE" dirty="0"/>
              <a:t>	</a:t>
            </a:r>
            <a:r>
              <a:rPr lang="sv-SE" dirty="0" smtClean="0"/>
              <a:t>-</a:t>
            </a:r>
            <a:endParaRPr lang="sv-SE" dirty="0"/>
          </a:p>
          <a:p>
            <a:r>
              <a:rPr lang="sv-SE" dirty="0" smtClean="0"/>
              <a:t>Kick-starter 	1-10 Mkr</a:t>
            </a:r>
          </a:p>
          <a:p>
            <a:r>
              <a:rPr lang="sv-SE" dirty="0" err="1" smtClean="0"/>
              <a:t>Webshop</a:t>
            </a:r>
            <a:r>
              <a:rPr lang="sv-SE" dirty="0" smtClean="0"/>
              <a:t>	1-100 Mkr/yr</a:t>
            </a:r>
          </a:p>
          <a:p>
            <a:r>
              <a:rPr lang="sv-SE" dirty="0" err="1" smtClean="0"/>
              <a:t>Resellers</a:t>
            </a:r>
            <a:r>
              <a:rPr lang="sv-SE" dirty="0" smtClean="0"/>
              <a:t>	-</a:t>
            </a:r>
          </a:p>
          <a:p>
            <a:r>
              <a:rPr lang="sv-SE" dirty="0" err="1" smtClean="0"/>
              <a:t>Apps</a:t>
            </a:r>
            <a:r>
              <a:rPr lang="sv-SE" dirty="0" smtClean="0"/>
              <a:t>		</a:t>
            </a:r>
            <a:r>
              <a:rPr lang="sv-SE" dirty="0" smtClean="0"/>
              <a:t>0.1-1 </a:t>
            </a:r>
            <a:r>
              <a:rPr lang="sv-SE" dirty="0" smtClean="0"/>
              <a:t>Mkr/yr</a:t>
            </a:r>
          </a:p>
        </p:txBody>
      </p:sp>
      <p:sp>
        <p:nvSpPr>
          <p:cNvPr id="25" name="Platshållare för text 3"/>
          <p:cNvSpPr>
            <a:spLocks noGrp="1"/>
          </p:cNvSpPr>
          <p:nvPr>
            <p:ph type="body" idx="1"/>
          </p:nvPr>
        </p:nvSpPr>
        <p:spPr>
          <a:xfrm>
            <a:off x="8035898" y="4280324"/>
            <a:ext cx="3560463" cy="1831985"/>
          </a:xfrm>
        </p:spPr>
        <p:txBody>
          <a:bodyPr>
            <a:normAutofit fontScale="92500" lnSpcReduction="20000"/>
          </a:bodyPr>
          <a:lstStyle/>
          <a:p>
            <a:r>
              <a:rPr lang="sv-SE" dirty="0" smtClean="0"/>
              <a:t>Swegon </a:t>
            </a:r>
            <a:r>
              <a:rPr lang="sv-SE" dirty="0" err="1" smtClean="0"/>
              <a:t>etc</a:t>
            </a:r>
            <a:r>
              <a:rPr lang="sv-SE" dirty="0"/>
              <a:t>	</a:t>
            </a:r>
            <a:r>
              <a:rPr lang="sv-SE" dirty="0" smtClean="0"/>
              <a:t>1-100 Mkr/yr</a:t>
            </a:r>
            <a:endParaRPr lang="sv-SE" dirty="0"/>
          </a:p>
          <a:p>
            <a:r>
              <a:rPr lang="sv-SE" dirty="0" smtClean="0"/>
              <a:t>Kick-starter 	-</a:t>
            </a:r>
          </a:p>
          <a:p>
            <a:r>
              <a:rPr lang="sv-SE" dirty="0" err="1" smtClean="0"/>
              <a:t>Webshop</a:t>
            </a:r>
            <a:r>
              <a:rPr lang="sv-SE" dirty="0" smtClean="0"/>
              <a:t>	-</a:t>
            </a:r>
          </a:p>
          <a:p>
            <a:r>
              <a:rPr lang="sv-SE" dirty="0" err="1" smtClean="0"/>
              <a:t>Resellers</a:t>
            </a:r>
            <a:r>
              <a:rPr lang="sv-SE" dirty="0" smtClean="0"/>
              <a:t>	-</a:t>
            </a:r>
          </a:p>
          <a:p>
            <a:r>
              <a:rPr lang="sv-SE" dirty="0" err="1"/>
              <a:t>Apps</a:t>
            </a:r>
            <a:r>
              <a:rPr lang="sv-SE" dirty="0"/>
              <a:t>		</a:t>
            </a:r>
            <a:r>
              <a:rPr lang="sv-SE" dirty="0" smtClean="0"/>
              <a:t>1-100 Mkr/yr</a:t>
            </a:r>
            <a:endParaRPr lang="sv-SE" dirty="0"/>
          </a:p>
        </p:txBody>
      </p:sp>
      <p:sp>
        <p:nvSpPr>
          <p:cNvPr id="26" name="Platshållare för text 3"/>
          <p:cNvSpPr>
            <a:spLocks noGrp="1"/>
          </p:cNvSpPr>
          <p:nvPr>
            <p:ph type="body" idx="1"/>
          </p:nvPr>
        </p:nvSpPr>
        <p:spPr>
          <a:xfrm>
            <a:off x="393341" y="4304136"/>
            <a:ext cx="3481551" cy="1831985"/>
          </a:xfrm>
        </p:spPr>
        <p:txBody>
          <a:bodyPr>
            <a:normAutofit fontScale="92500" lnSpcReduction="20000"/>
          </a:bodyPr>
          <a:lstStyle/>
          <a:p>
            <a:r>
              <a:rPr lang="sv-SE" dirty="0"/>
              <a:t>Swegon	 </a:t>
            </a:r>
            <a:r>
              <a:rPr lang="sv-SE" dirty="0" err="1" smtClean="0"/>
              <a:t>etc</a:t>
            </a:r>
            <a:r>
              <a:rPr lang="sv-SE" dirty="0" smtClean="0"/>
              <a:t>	-</a:t>
            </a:r>
            <a:endParaRPr lang="sv-SE" dirty="0"/>
          </a:p>
          <a:p>
            <a:r>
              <a:rPr lang="sv-SE" dirty="0" smtClean="0"/>
              <a:t>Kick-starter 	-</a:t>
            </a:r>
          </a:p>
          <a:p>
            <a:r>
              <a:rPr lang="sv-SE" dirty="0" err="1" smtClean="0"/>
              <a:t>Webshop</a:t>
            </a:r>
            <a:r>
              <a:rPr lang="sv-SE" dirty="0" smtClean="0"/>
              <a:t>	-</a:t>
            </a:r>
          </a:p>
          <a:p>
            <a:r>
              <a:rPr lang="sv-SE" dirty="0" err="1" smtClean="0"/>
              <a:t>Resellers</a:t>
            </a:r>
            <a:r>
              <a:rPr lang="sv-SE" dirty="0" smtClean="0"/>
              <a:t>	1-10 Mkr/yr</a:t>
            </a:r>
          </a:p>
          <a:p>
            <a:r>
              <a:rPr lang="sv-SE" dirty="0" err="1"/>
              <a:t>Apps</a:t>
            </a:r>
            <a:r>
              <a:rPr lang="sv-SE" dirty="0"/>
              <a:t>		</a:t>
            </a:r>
            <a:r>
              <a:rPr lang="sv-SE" dirty="0" smtClean="0"/>
              <a:t>-</a:t>
            </a:r>
            <a:endParaRPr lang="sv-SE" dirty="0"/>
          </a:p>
        </p:txBody>
      </p:sp>
      <p:sp>
        <p:nvSpPr>
          <p:cNvPr id="3" name="Rektangel 2"/>
          <p:cNvSpPr/>
          <p:nvPr/>
        </p:nvSpPr>
        <p:spPr>
          <a:xfrm>
            <a:off x="379163" y="6211669"/>
            <a:ext cx="3637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/>
              <a:t>Market </a:t>
            </a:r>
            <a:r>
              <a:rPr lang="sv-SE" dirty="0" err="1" smtClean="0"/>
              <a:t>introduction</a:t>
            </a:r>
            <a:r>
              <a:rPr lang="sv-SE" dirty="0" smtClean="0"/>
              <a:t> </a:t>
            </a:r>
            <a:r>
              <a:rPr lang="sv-SE" dirty="0" smtClean="0"/>
              <a:t>2018 Q1</a:t>
            </a:r>
            <a:r>
              <a:rPr lang="sv-SE" dirty="0" smtClean="0"/>
              <a:t/>
            </a:r>
            <a:br>
              <a:rPr lang="sv-SE" dirty="0" smtClean="0"/>
            </a:br>
            <a:r>
              <a:rPr lang="sv-SE" dirty="0" err="1" smtClean="0"/>
              <a:t>Dev</a:t>
            </a:r>
            <a:r>
              <a:rPr lang="sv-SE" dirty="0" smtClean="0"/>
              <a:t>. </a:t>
            </a:r>
            <a:r>
              <a:rPr lang="sv-SE" dirty="0" err="1" smtClean="0"/>
              <a:t>financed</a:t>
            </a:r>
            <a:r>
              <a:rPr lang="sv-SE" dirty="0" smtClean="0"/>
              <a:t> by sponsor </a:t>
            </a:r>
            <a:r>
              <a:rPr lang="sv-SE" dirty="0" err="1" smtClean="0"/>
              <a:t>customers</a:t>
            </a:r>
            <a:r>
              <a:rPr lang="sv-SE" dirty="0" smtClean="0"/>
              <a:t> </a:t>
            </a:r>
            <a:endParaRPr lang="en-US" dirty="0"/>
          </a:p>
        </p:txBody>
      </p:sp>
      <p:sp>
        <p:nvSpPr>
          <p:cNvPr id="14" name="Rektangel 13"/>
          <p:cNvSpPr/>
          <p:nvPr/>
        </p:nvSpPr>
        <p:spPr>
          <a:xfrm>
            <a:off x="4017147" y="6211669"/>
            <a:ext cx="39426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/>
              <a:t>Market </a:t>
            </a:r>
            <a:r>
              <a:rPr lang="sv-SE" dirty="0" err="1" smtClean="0"/>
              <a:t>introduction</a:t>
            </a:r>
            <a:r>
              <a:rPr lang="sv-SE" dirty="0"/>
              <a:t> 2018 </a:t>
            </a:r>
            <a:r>
              <a:rPr lang="sv-SE" dirty="0" smtClean="0"/>
              <a:t>Q3 </a:t>
            </a:r>
            <a:r>
              <a:rPr lang="sv-SE" dirty="0" smtClean="0"/>
              <a:t/>
            </a:r>
            <a:br>
              <a:rPr lang="sv-SE" dirty="0" smtClean="0"/>
            </a:br>
            <a:r>
              <a:rPr lang="sv-SE" dirty="0" err="1" smtClean="0"/>
              <a:t>Dev</a:t>
            </a:r>
            <a:r>
              <a:rPr lang="sv-SE" dirty="0" smtClean="0"/>
              <a:t>. </a:t>
            </a:r>
            <a:r>
              <a:rPr lang="sv-SE" dirty="0" err="1" smtClean="0"/>
              <a:t>financed</a:t>
            </a:r>
            <a:r>
              <a:rPr lang="sv-SE" dirty="0" smtClean="0"/>
              <a:t>  by kick-starter </a:t>
            </a:r>
            <a:r>
              <a:rPr lang="sv-SE" dirty="0" err="1" smtClean="0"/>
              <a:t>customers</a:t>
            </a:r>
            <a:endParaRPr lang="en-US" dirty="0"/>
          </a:p>
        </p:txBody>
      </p:sp>
      <p:sp>
        <p:nvSpPr>
          <p:cNvPr id="15" name="Rektangel 14"/>
          <p:cNvSpPr/>
          <p:nvPr/>
        </p:nvSpPr>
        <p:spPr>
          <a:xfrm>
            <a:off x="8035898" y="6228962"/>
            <a:ext cx="41215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/>
              <a:t>Market </a:t>
            </a:r>
            <a:r>
              <a:rPr lang="sv-SE" dirty="0" err="1" smtClean="0"/>
              <a:t>introductions</a:t>
            </a:r>
            <a:r>
              <a:rPr lang="sv-SE" dirty="0" smtClean="0"/>
              <a:t> 2019 Q1 &amp; 2020 </a:t>
            </a:r>
            <a:r>
              <a:rPr lang="sv-SE" dirty="0"/>
              <a:t>Q1</a:t>
            </a:r>
            <a:r>
              <a:rPr lang="sv-SE" dirty="0" smtClean="0"/>
              <a:t> </a:t>
            </a:r>
            <a:br>
              <a:rPr lang="sv-SE" dirty="0" smtClean="0"/>
            </a:br>
            <a:r>
              <a:rPr lang="sv-SE" dirty="0" err="1" smtClean="0"/>
              <a:t>Development</a:t>
            </a:r>
            <a:r>
              <a:rPr lang="sv-SE" dirty="0" smtClean="0"/>
              <a:t> </a:t>
            </a:r>
            <a:r>
              <a:rPr lang="sv-SE" dirty="0" err="1" smtClean="0"/>
              <a:t>financed</a:t>
            </a:r>
            <a:r>
              <a:rPr lang="sv-SE" dirty="0" smtClean="0"/>
              <a:t>  by </a:t>
            </a:r>
            <a:r>
              <a:rPr lang="sv-SE" dirty="0" err="1" smtClean="0"/>
              <a:t>sales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Roadmap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smtClean="0"/>
              <a:t>2016-12-30 10-100 Hz sound generation and </a:t>
            </a:r>
            <a:r>
              <a:rPr lang="sv-SE" dirty="0" err="1" smtClean="0"/>
              <a:t>cancellation</a:t>
            </a:r>
            <a:r>
              <a:rPr lang="sv-SE" dirty="0" smtClean="0"/>
              <a:t> (</a:t>
            </a:r>
            <a:r>
              <a:rPr lang="sv-SE" dirty="0" err="1" smtClean="0"/>
              <a:t>if</a:t>
            </a:r>
            <a:r>
              <a:rPr lang="sv-SE" dirty="0" smtClean="0"/>
              <a:t> </a:t>
            </a:r>
            <a:r>
              <a:rPr lang="sv-SE" dirty="0" err="1" smtClean="0"/>
              <a:t>prototype</a:t>
            </a:r>
            <a:r>
              <a:rPr lang="sv-SE" dirty="0" smtClean="0"/>
              <a:t> </a:t>
            </a:r>
            <a:r>
              <a:rPr lang="sv-SE" dirty="0" err="1" smtClean="0"/>
              <a:t>funded</a:t>
            </a:r>
            <a:r>
              <a:rPr lang="sv-SE" dirty="0" smtClean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50-100k SEK) </a:t>
            </a:r>
            <a:r>
              <a:rPr lang="sv-SE" dirty="0" smtClean="0">
                <a:sym typeface="Wingdings" panose="05000000000000000000" pitchFamily="2" charset="2"/>
              </a:rPr>
              <a:t></a:t>
            </a:r>
            <a:endParaRPr lang="sv-SE" dirty="0" smtClean="0"/>
          </a:p>
          <a:p>
            <a:pPr lvl="1"/>
            <a:r>
              <a:rPr lang="sv-SE" dirty="0" smtClean="0"/>
              <a:t>2017 Q1 Kick-starter </a:t>
            </a:r>
            <a:r>
              <a:rPr lang="sv-SE" dirty="0" err="1" smtClean="0"/>
              <a:t>campaign</a:t>
            </a:r>
            <a:r>
              <a:rPr lang="sv-SE" dirty="0" smtClean="0"/>
              <a:t> and </a:t>
            </a:r>
            <a:r>
              <a:rPr lang="sv-SE" dirty="0" err="1" smtClean="0"/>
              <a:t>technology</a:t>
            </a:r>
            <a:r>
              <a:rPr lang="sv-SE" dirty="0" err="1"/>
              <a:t>-</a:t>
            </a:r>
            <a:r>
              <a:rPr lang="sv-SE" dirty="0" err="1" smtClean="0"/>
              <a:t>buzz</a:t>
            </a:r>
            <a:r>
              <a:rPr lang="sv-SE" dirty="0" smtClean="0"/>
              <a:t> seeding</a:t>
            </a:r>
          </a:p>
          <a:p>
            <a:pPr lvl="1"/>
            <a:r>
              <a:rPr lang="sv-SE" dirty="0" smtClean="0"/>
              <a:t>2017 Q1-Q2 Malmö Live </a:t>
            </a:r>
            <a:r>
              <a:rPr lang="sv-SE" dirty="0" err="1" smtClean="0"/>
              <a:t>silence</a:t>
            </a:r>
            <a:r>
              <a:rPr lang="sv-SE" dirty="0" smtClean="0"/>
              <a:t> </a:t>
            </a:r>
            <a:r>
              <a:rPr lang="sv-SE" dirty="0" err="1" smtClean="0"/>
              <a:t>financed</a:t>
            </a:r>
            <a:r>
              <a:rPr lang="sv-SE" dirty="0" smtClean="0"/>
              <a:t> by Engström sponsors</a:t>
            </a:r>
          </a:p>
          <a:p>
            <a:pPr lvl="1"/>
            <a:r>
              <a:rPr lang="sv-SE" dirty="0" smtClean="0"/>
              <a:t>2017 Q3-Q4 Arena speaker </a:t>
            </a:r>
            <a:r>
              <a:rPr lang="sv-SE" dirty="0" err="1" smtClean="0"/>
              <a:t>financed</a:t>
            </a:r>
            <a:r>
              <a:rPr lang="sv-SE" dirty="0" smtClean="0"/>
              <a:t> by event manager</a:t>
            </a:r>
          </a:p>
          <a:p>
            <a:pPr lvl="1"/>
            <a:r>
              <a:rPr lang="sv-SE" dirty="0" smtClean="0"/>
              <a:t>2018 Q1 Start distribution to </a:t>
            </a:r>
            <a:r>
              <a:rPr lang="sv-SE" dirty="0" err="1" smtClean="0"/>
              <a:t>high</a:t>
            </a:r>
            <a:r>
              <a:rPr lang="sv-SE" dirty="0" smtClean="0"/>
              <a:t>-end </a:t>
            </a:r>
            <a:r>
              <a:rPr lang="sv-SE" dirty="0" err="1" smtClean="0"/>
              <a:t>HiFi</a:t>
            </a:r>
            <a:r>
              <a:rPr lang="sv-SE" dirty="0" smtClean="0"/>
              <a:t> </a:t>
            </a:r>
            <a:r>
              <a:rPr lang="sv-SE" dirty="0" err="1" smtClean="0"/>
              <a:t>retailers</a:t>
            </a:r>
            <a:r>
              <a:rPr lang="sv-SE" dirty="0" smtClean="0"/>
              <a:t> via Engström</a:t>
            </a:r>
          </a:p>
          <a:p>
            <a:pPr lvl="1"/>
            <a:r>
              <a:rPr lang="sv-SE" dirty="0" smtClean="0"/>
              <a:t>2018 Q3 Start distribution </a:t>
            </a:r>
            <a:r>
              <a:rPr lang="sv-SE" dirty="0"/>
              <a:t>to </a:t>
            </a:r>
            <a:r>
              <a:rPr lang="sv-SE" dirty="0" err="1" smtClean="0"/>
              <a:t>high</a:t>
            </a:r>
            <a:r>
              <a:rPr lang="sv-SE" dirty="0" smtClean="0"/>
              <a:t>-end ventilation </a:t>
            </a:r>
            <a:r>
              <a:rPr lang="sv-SE" dirty="0" err="1" smtClean="0"/>
              <a:t>customers</a:t>
            </a:r>
            <a:r>
              <a:rPr lang="sv-SE" dirty="0" smtClean="0"/>
              <a:t> via Orlo or </a:t>
            </a:r>
            <a:r>
              <a:rPr lang="sv-SE" dirty="0" err="1" smtClean="0"/>
              <a:t>own</a:t>
            </a:r>
            <a:r>
              <a:rPr lang="sv-SE" dirty="0" smtClean="0"/>
              <a:t> </a:t>
            </a:r>
            <a:r>
              <a:rPr lang="sv-SE" dirty="0" err="1" smtClean="0"/>
              <a:t>webshop</a:t>
            </a:r>
            <a:endParaRPr lang="sv-SE" dirty="0" smtClean="0"/>
          </a:p>
          <a:p>
            <a:pPr lvl="1"/>
            <a:r>
              <a:rPr lang="sv-SE" dirty="0" smtClean="0"/>
              <a:t>2019 Q1 Start </a:t>
            </a:r>
            <a:r>
              <a:rPr lang="sv-SE" dirty="0" err="1" smtClean="0"/>
              <a:t>licensing</a:t>
            </a:r>
            <a:r>
              <a:rPr lang="sv-SE" dirty="0" smtClean="0"/>
              <a:t> to </a:t>
            </a:r>
            <a:r>
              <a:rPr lang="sv-SE" dirty="0" err="1" smtClean="0"/>
              <a:t>high</a:t>
            </a:r>
            <a:r>
              <a:rPr lang="sv-SE" dirty="0" smtClean="0"/>
              <a:t>-end A/C </a:t>
            </a:r>
            <a:r>
              <a:rPr lang="sv-SE" dirty="0" err="1" smtClean="0"/>
              <a:t>customers</a:t>
            </a:r>
            <a:r>
              <a:rPr lang="sv-SE" dirty="0" smtClean="0"/>
              <a:t> </a:t>
            </a:r>
            <a:r>
              <a:rPr lang="sv-SE" dirty="0"/>
              <a:t>via </a:t>
            </a:r>
            <a:r>
              <a:rPr lang="sv-SE" dirty="0" smtClean="0"/>
              <a:t>Swegon</a:t>
            </a:r>
          </a:p>
          <a:p>
            <a:pPr lvl="1"/>
            <a:r>
              <a:rPr lang="sv-SE" dirty="0" smtClean="0"/>
              <a:t>2019 Q3 Start </a:t>
            </a:r>
            <a:r>
              <a:rPr lang="sv-SE" dirty="0" err="1" smtClean="0"/>
              <a:t>licensing</a:t>
            </a:r>
            <a:r>
              <a:rPr lang="sv-SE" dirty="0" smtClean="0"/>
              <a:t> to </a:t>
            </a:r>
            <a:r>
              <a:rPr lang="sv-SE" dirty="0" err="1" smtClean="0"/>
              <a:t>high</a:t>
            </a:r>
            <a:r>
              <a:rPr lang="sv-SE" dirty="0" smtClean="0"/>
              <a:t>-end </a:t>
            </a:r>
            <a:r>
              <a:rPr lang="sv-SE" dirty="0" err="1" smtClean="0"/>
              <a:t>car</a:t>
            </a:r>
            <a:r>
              <a:rPr lang="sv-SE" dirty="0" smtClean="0"/>
              <a:t> and </a:t>
            </a:r>
            <a:r>
              <a:rPr lang="sv-SE" dirty="0" err="1" smtClean="0"/>
              <a:t>aeroplane</a:t>
            </a:r>
            <a:r>
              <a:rPr lang="sv-SE" dirty="0"/>
              <a:t> </a:t>
            </a:r>
            <a:r>
              <a:rPr lang="sv-SE" dirty="0" err="1" smtClean="0"/>
              <a:t>manufacturers</a:t>
            </a:r>
            <a:r>
              <a:rPr lang="sv-SE" dirty="0" smtClean="0"/>
              <a:t> via </a:t>
            </a:r>
            <a:r>
              <a:rPr lang="sv-SE" dirty="0" err="1" smtClean="0"/>
              <a:t>own</a:t>
            </a:r>
            <a:r>
              <a:rPr lang="sv-SE" dirty="0" smtClean="0"/>
              <a:t> brand.</a:t>
            </a:r>
          </a:p>
          <a:p>
            <a:pPr lvl="1"/>
            <a:r>
              <a:rPr lang="sv-SE" dirty="0" smtClean="0"/>
              <a:t>2020 Q1 Start </a:t>
            </a:r>
            <a:r>
              <a:rPr lang="sv-SE" dirty="0" err="1" smtClean="0"/>
              <a:t>selling</a:t>
            </a:r>
            <a:r>
              <a:rPr lang="sv-SE" dirty="0" smtClean="0"/>
              <a:t> </a:t>
            </a:r>
            <a:r>
              <a:rPr lang="sv-SE" dirty="0" err="1" smtClean="0"/>
              <a:t>follow-me</a:t>
            </a:r>
            <a:r>
              <a:rPr lang="sv-SE" dirty="0" smtClean="0"/>
              <a:t> </a:t>
            </a:r>
            <a:r>
              <a:rPr lang="sv-SE" dirty="0" err="1" smtClean="0"/>
              <a:t>silence</a:t>
            </a:r>
            <a:r>
              <a:rPr lang="sv-SE" dirty="0" smtClean="0"/>
              <a:t>, </a:t>
            </a:r>
            <a:r>
              <a:rPr lang="sv-SE" dirty="0" err="1" smtClean="0"/>
              <a:t>follow-me</a:t>
            </a:r>
            <a:r>
              <a:rPr lang="sv-SE" dirty="0" smtClean="0"/>
              <a:t> sound and </a:t>
            </a:r>
            <a:r>
              <a:rPr lang="sv-SE" dirty="0" err="1" smtClean="0"/>
              <a:t>follow-me</a:t>
            </a:r>
            <a:r>
              <a:rPr lang="sv-SE" dirty="0" smtClean="0"/>
              <a:t> air </a:t>
            </a:r>
            <a:r>
              <a:rPr lang="sv-SE" dirty="0" err="1" smtClean="0"/>
              <a:t>apps</a:t>
            </a:r>
            <a:r>
              <a:rPr lang="sv-SE" dirty="0" smtClean="0"/>
              <a:t> for </a:t>
            </a:r>
            <a:r>
              <a:rPr lang="sv-SE" dirty="0" err="1" smtClean="0"/>
              <a:t>Engströ</a:t>
            </a:r>
            <a:r>
              <a:rPr lang="sv-SE" dirty="0" smtClean="0"/>
              <a:t>, Orlo, Swegon and </a:t>
            </a:r>
            <a:r>
              <a:rPr lang="sv-SE" dirty="0" err="1" smtClean="0"/>
              <a:t>licenced</a:t>
            </a:r>
            <a:r>
              <a:rPr lang="sv-SE" dirty="0" smtClean="0"/>
              <a:t> </a:t>
            </a:r>
            <a:r>
              <a:rPr lang="sv-SE" dirty="0" err="1" smtClean="0"/>
              <a:t>products</a:t>
            </a:r>
            <a:r>
              <a:rPr lang="sv-SE" dirty="0" smtClean="0"/>
              <a:t>.</a:t>
            </a:r>
          </a:p>
          <a:p>
            <a:pPr lvl="1"/>
            <a:r>
              <a:rPr lang="sv-SE" dirty="0" smtClean="0"/>
              <a:t>2020 Q3 Start </a:t>
            </a:r>
            <a:r>
              <a:rPr lang="sv-SE" dirty="0" err="1" smtClean="0"/>
              <a:t>selling</a:t>
            </a:r>
            <a:r>
              <a:rPr lang="sv-SE" dirty="0" smtClean="0"/>
              <a:t> and </a:t>
            </a:r>
            <a:r>
              <a:rPr lang="sv-SE" dirty="0" err="1" smtClean="0"/>
              <a:t>maintaining</a:t>
            </a:r>
            <a:r>
              <a:rPr lang="sv-SE" dirty="0" smtClean="0"/>
              <a:t> </a:t>
            </a:r>
            <a:r>
              <a:rPr lang="sv-SE" dirty="0" err="1" smtClean="0"/>
              <a:t>acoustic</a:t>
            </a:r>
            <a:r>
              <a:rPr lang="sv-SE" dirty="0" smtClean="0"/>
              <a:t> </a:t>
            </a:r>
            <a:r>
              <a:rPr lang="sv-SE" dirty="0" err="1" smtClean="0"/>
              <a:t>room</a:t>
            </a:r>
            <a:r>
              <a:rPr lang="sv-SE" dirty="0" smtClean="0"/>
              <a:t> design plans and </a:t>
            </a:r>
            <a:r>
              <a:rPr lang="sv-SE" dirty="0" err="1" smtClean="0"/>
              <a:t>tools</a:t>
            </a:r>
            <a:r>
              <a:rPr lang="sv-SE" dirty="0" smtClean="0"/>
              <a:t> to arena and </a:t>
            </a:r>
            <a:r>
              <a:rPr lang="sv-SE" dirty="0" err="1" smtClean="0"/>
              <a:t>home-theater</a:t>
            </a:r>
            <a:r>
              <a:rPr lang="sv-SE" dirty="0" smtClean="0"/>
              <a:t> </a:t>
            </a:r>
            <a:r>
              <a:rPr lang="sv-SE" dirty="0" err="1" smtClean="0"/>
              <a:t>constructors</a:t>
            </a:r>
            <a:endParaRPr lang="sv-S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84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Återkoppling från tänkbara kunder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 smtClean="0"/>
              <a:t>”Perfekt för att få bort åksjuka och jetlag från lågfrekvent buller i bilar och i flygplan” (Studentfeedback om </a:t>
            </a:r>
            <a:r>
              <a:rPr lang="sv-SE" dirty="0" err="1" smtClean="0"/>
              <a:t>Boomrooms</a:t>
            </a:r>
            <a:r>
              <a:rPr lang="sv-SE" dirty="0" smtClean="0"/>
              <a:t> business-</a:t>
            </a:r>
            <a:r>
              <a:rPr lang="sv-SE" dirty="0" err="1" smtClean="0"/>
              <a:t>case</a:t>
            </a:r>
            <a:r>
              <a:rPr lang="sv-SE" dirty="0" smtClean="0"/>
              <a:t>)</a:t>
            </a:r>
          </a:p>
          <a:p>
            <a:r>
              <a:rPr lang="sv-SE" dirty="0" smtClean="0"/>
              <a:t>”Oj</a:t>
            </a:r>
            <a:r>
              <a:rPr lang="sv-SE" dirty="0"/>
              <a:t>. Om du kan göra ngt i stil med </a:t>
            </a:r>
            <a:r>
              <a:rPr lang="sv-SE" dirty="0" smtClean="0"/>
              <a:t>[</a:t>
            </a:r>
            <a:r>
              <a:rPr lang="sv-SE" dirty="0" err="1" smtClean="0"/>
              <a:t>Devialet’s</a:t>
            </a:r>
            <a:r>
              <a:rPr lang="sv-SE" dirty="0" smtClean="0"/>
              <a:t>] </a:t>
            </a:r>
            <a:r>
              <a:rPr lang="sv-SE" dirty="0" err="1" smtClean="0"/>
              <a:t>Phantom</a:t>
            </a:r>
            <a:r>
              <a:rPr lang="sv-SE" dirty="0" smtClean="0"/>
              <a:t> </a:t>
            </a:r>
            <a:r>
              <a:rPr lang="sv-SE" dirty="0"/>
              <a:t>så är din lycka gjord</a:t>
            </a:r>
            <a:r>
              <a:rPr lang="sv-SE" dirty="0" smtClean="0"/>
              <a:t>. </a:t>
            </a:r>
            <a:r>
              <a:rPr lang="sv-SE" dirty="0"/>
              <a:t>Jag längtar fortfarande efter en demo</a:t>
            </a:r>
            <a:r>
              <a:rPr lang="sv-SE" dirty="0" smtClean="0"/>
              <a:t>. Dessutom, alla </a:t>
            </a:r>
            <a:r>
              <a:rPr lang="sv-SE" dirty="0"/>
              <a:t>har problem med buller från </a:t>
            </a:r>
            <a:r>
              <a:rPr lang="sv-SE" dirty="0" smtClean="0"/>
              <a:t>A/C inom </a:t>
            </a:r>
            <a:r>
              <a:rPr lang="sv-SE" dirty="0" err="1" smtClean="0"/>
              <a:t>high</a:t>
            </a:r>
            <a:r>
              <a:rPr lang="sv-SE" dirty="0" smtClean="0"/>
              <a:t>-end </a:t>
            </a:r>
            <a:r>
              <a:rPr lang="sv-SE" dirty="0" err="1" smtClean="0"/>
              <a:t>HiFi</a:t>
            </a:r>
            <a:r>
              <a:rPr lang="sv-SE" dirty="0" smtClean="0"/>
              <a:t>.” Timo, VD på Engström.</a:t>
            </a:r>
          </a:p>
          <a:p>
            <a:r>
              <a:rPr lang="sv-SE" dirty="0" smtClean="0"/>
              <a:t>”När du har en mer färdig produkt som tar bort buller och störningar via ventilationssystemet vill vi sälja den!” Fredrik, VD på Orlo</a:t>
            </a:r>
          </a:p>
          <a:p>
            <a:r>
              <a:rPr lang="sv-SE" dirty="0" smtClean="0"/>
              <a:t>”Vi har försökt med annan teknik tidigare men inte lyckats.” Thomas, produktchef på Swegon </a:t>
            </a:r>
            <a:r>
              <a:rPr lang="sv-SE" dirty="0" smtClean="0">
                <a:sym typeface="Wingdings" panose="05000000000000000000" pitchFamily="2" charset="2"/>
              </a:rPr>
              <a:t> letter </a:t>
            </a:r>
            <a:r>
              <a:rPr lang="sv-SE" dirty="0" err="1" smtClean="0">
                <a:sym typeface="Wingdings" panose="05000000000000000000" pitchFamily="2" charset="2"/>
              </a:rPr>
              <a:t>of</a:t>
            </a:r>
            <a:r>
              <a:rPr lang="sv-SE" dirty="0" smtClean="0">
                <a:sym typeface="Wingdings" panose="05000000000000000000" pitchFamily="2" charset="2"/>
              </a:rPr>
              <a:t> </a:t>
            </a:r>
            <a:r>
              <a:rPr lang="sv-SE" dirty="0" err="1" smtClean="0">
                <a:sym typeface="Wingdings" panose="05000000000000000000" pitchFamily="2" charset="2"/>
              </a:rPr>
              <a:t>intent</a:t>
            </a:r>
            <a:r>
              <a:rPr lang="sv-SE" dirty="0" smtClean="0">
                <a:sym typeface="Wingdings" panose="05000000000000000000" pitchFamily="2" charset="2"/>
              </a:rPr>
              <a:t> eller bättre fras!!!</a:t>
            </a:r>
            <a:endParaRPr lang="sv-SE" dirty="0" smtClean="0"/>
          </a:p>
          <a:p>
            <a:r>
              <a:rPr lang="sv-SE" dirty="0" smtClean="0"/>
              <a:t>”Exempel </a:t>
            </a:r>
            <a:r>
              <a:rPr lang="sv-SE" dirty="0"/>
              <a:t>på pågående projekt är störning från vindkraft, ljudkvalitet hos värmepumpar och ljudmiljö inomhus från installationer. Lågfrekvent ljud är en viktig </a:t>
            </a:r>
            <a:r>
              <a:rPr lang="sv-SE" dirty="0" smtClean="0"/>
              <a:t>aspekt. </a:t>
            </a:r>
            <a:r>
              <a:rPr lang="sv-SE" dirty="0"/>
              <a:t>Däremot </a:t>
            </a:r>
            <a:r>
              <a:rPr lang="sv-SE" dirty="0" smtClean="0"/>
              <a:t>[</a:t>
            </a:r>
            <a:r>
              <a:rPr lang="sv-SE" dirty="0"/>
              <a:t>har </a:t>
            </a:r>
            <a:r>
              <a:rPr lang="sv-SE" dirty="0" smtClean="0"/>
              <a:t>vi] ingen </a:t>
            </a:r>
            <a:r>
              <a:rPr lang="sv-SE" dirty="0"/>
              <a:t>större möjlighet att reproducera infraljud i våra lab.</a:t>
            </a:r>
            <a:r>
              <a:rPr lang="sv-SE" dirty="0" smtClean="0"/>
              <a:t>” Krister, ljudprojektansvarig på SP. </a:t>
            </a:r>
            <a:r>
              <a:rPr lang="sv-SE" dirty="0" smtClean="0">
                <a:sym typeface="Wingdings" panose="05000000000000000000" pitchFamily="2" charset="2"/>
              </a:rPr>
              <a:t> letter </a:t>
            </a:r>
            <a:r>
              <a:rPr lang="sv-SE" dirty="0" err="1" smtClean="0">
                <a:sym typeface="Wingdings" panose="05000000000000000000" pitchFamily="2" charset="2"/>
              </a:rPr>
              <a:t>of</a:t>
            </a:r>
            <a:r>
              <a:rPr lang="sv-SE" dirty="0" smtClean="0">
                <a:sym typeface="Wingdings" panose="05000000000000000000" pitchFamily="2" charset="2"/>
              </a:rPr>
              <a:t> </a:t>
            </a:r>
            <a:r>
              <a:rPr lang="sv-SE" dirty="0" err="1" smtClean="0">
                <a:sym typeface="Wingdings" panose="05000000000000000000" pitchFamily="2" charset="2"/>
              </a:rPr>
              <a:t>intent</a:t>
            </a:r>
            <a:r>
              <a:rPr lang="sv-SE" dirty="0" smtClean="0">
                <a:sym typeface="Wingdings" panose="05000000000000000000" pitchFamily="2" charset="2"/>
              </a:rPr>
              <a:t> eller bättre fras!!!</a:t>
            </a:r>
            <a:endParaRPr lang="sv-SE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2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526</Words>
  <Application>Microsoft Office PowerPoint</Application>
  <PresentationFormat>Bredbild</PresentationFormat>
  <Paragraphs>61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4" baseType="lpstr">
      <vt:lpstr>Adobe Gothic Std B</vt:lpstr>
      <vt:lpstr>Arial</vt:lpstr>
      <vt:lpstr>Calibri</vt:lpstr>
      <vt:lpstr>Calibri Light</vt:lpstr>
      <vt:lpstr>Courier New</vt:lpstr>
      <vt:lpstr>Wingdings</vt:lpstr>
      <vt:lpstr>Office-tema</vt:lpstr>
      <vt:lpstr>PowerPoint-presentation</vt:lpstr>
      <vt:lpstr>Customers</vt:lpstr>
      <vt:lpstr>Problem</vt:lpstr>
      <vt:lpstr>Solution</vt:lpstr>
      <vt:lpstr>Market estimates</vt:lpstr>
      <vt:lpstr>Roadmap</vt:lpstr>
      <vt:lpstr>Återkoppling från tänkbara kunder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Joakim</dc:creator>
  <cp:lastModifiedBy>Joakim Pettersson</cp:lastModifiedBy>
  <cp:revision>80</cp:revision>
  <cp:lastPrinted>2016-09-30T09:14:07Z</cp:lastPrinted>
  <dcterms:created xsi:type="dcterms:W3CDTF">2015-04-23T17:20:37Z</dcterms:created>
  <dcterms:modified xsi:type="dcterms:W3CDTF">2016-09-30T09:21:53Z</dcterms:modified>
</cp:coreProperties>
</file>