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6858000" type="screen4x3"/>
  <p:notesSz cx="6797675" cy="992822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2" d="100"/>
          <a:sy n="132" d="100"/>
        </p:scale>
        <p:origin x="894" y="12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6400" cy="4968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49688" y="0"/>
            <a:ext cx="2946400" cy="4968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450" y="4716463"/>
            <a:ext cx="5438775" cy="446722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9750"/>
            <a:ext cx="2946400" cy="49688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49688" y="9429750"/>
            <a:ext cx="2946400" cy="496888"/>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1:notes"/>
          <p:cNvSpPr txBox="1">
            <a:spLocks noGrp="1"/>
          </p:cNvSpPr>
          <p:nvPr>
            <p:ph type="body" idx="1"/>
          </p:nvPr>
        </p:nvSpPr>
        <p:spPr>
          <a:xfrm>
            <a:off x="679450" y="4716463"/>
            <a:ext cx="5438775" cy="44672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 name="Google Shape;89;p1: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b0b6f56c3_0_55:notes"/>
          <p:cNvSpPr txBox="1">
            <a:spLocks noGrp="1"/>
          </p:cNvSpPr>
          <p:nvPr>
            <p:ph type="body" idx="1"/>
          </p:nvPr>
        </p:nvSpPr>
        <p:spPr>
          <a:xfrm>
            <a:off x="679450" y="4716463"/>
            <a:ext cx="5438700" cy="4467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Want to see actual real-time communication with an artificial intelligence, and how it happens? Top right - Do you think my shirt has wrinkles? Middle left - Can you balance this ball? Bottom left - Can you just drop-in [instead of reserving a place]?</a:t>
            </a:r>
            <a:endParaRPr/>
          </a:p>
        </p:txBody>
      </p:sp>
      <p:sp>
        <p:nvSpPr>
          <p:cNvPr id="95" name="Google Shape;95;g3b0b6f56c3_0_55:notes"/>
          <p:cNvSpPr>
            <a:spLocks noGrp="1" noRot="1" noChangeAspect="1"/>
          </p:cNvSpPr>
          <p:nvPr>
            <p:ph type="sldImg" idx="2"/>
          </p:nvPr>
        </p:nvSpPr>
        <p:spPr>
          <a:xfrm>
            <a:off x="917575" y="744538"/>
            <a:ext cx="4962600" cy="3722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b0b6f56c3_0_0:notes"/>
          <p:cNvSpPr txBox="1">
            <a:spLocks noGrp="1"/>
          </p:cNvSpPr>
          <p:nvPr>
            <p:ph type="body" idx="1"/>
          </p:nvPr>
        </p:nvSpPr>
        <p:spPr>
          <a:xfrm>
            <a:off x="679450" y="4716463"/>
            <a:ext cx="5438700" cy="4467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g3b0b6f56c3_0_0:notes"/>
          <p:cNvSpPr>
            <a:spLocks noGrp="1" noRot="1" noChangeAspect="1"/>
          </p:cNvSpPr>
          <p:nvPr>
            <p:ph type="sldImg" idx="2"/>
          </p:nvPr>
        </p:nvSpPr>
        <p:spPr>
          <a:xfrm>
            <a:off x="917575" y="744538"/>
            <a:ext cx="4962600" cy="3722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2:notes"/>
          <p:cNvSpPr txBox="1">
            <a:spLocks noGrp="1"/>
          </p:cNvSpPr>
          <p:nvPr>
            <p:ph type="body" idx="1"/>
          </p:nvPr>
        </p:nvSpPr>
        <p:spPr>
          <a:xfrm>
            <a:off x="679450" y="4716463"/>
            <a:ext cx="5438775" cy="44672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2: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3:notes"/>
          <p:cNvSpPr txBox="1">
            <a:spLocks noGrp="1"/>
          </p:cNvSpPr>
          <p:nvPr>
            <p:ph type="body" idx="1"/>
          </p:nvPr>
        </p:nvSpPr>
        <p:spPr>
          <a:xfrm>
            <a:off x="679450" y="4716463"/>
            <a:ext cx="5438775" cy="44672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3: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b0b6f56c3_0_6:notes"/>
          <p:cNvSpPr>
            <a:spLocks noGrp="1" noRot="1" noChangeAspect="1"/>
          </p:cNvSpPr>
          <p:nvPr>
            <p:ph type="sldImg" idx="2"/>
          </p:nvPr>
        </p:nvSpPr>
        <p:spPr>
          <a:xfrm>
            <a:off x="917575" y="744538"/>
            <a:ext cx="4962600" cy="37227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b0b6f56c3_0_6:notes"/>
          <p:cNvSpPr txBox="1">
            <a:spLocks noGrp="1"/>
          </p:cNvSpPr>
          <p:nvPr>
            <p:ph type="body" idx="1"/>
          </p:nvPr>
        </p:nvSpPr>
        <p:spPr>
          <a:xfrm>
            <a:off x="679450" y="4716463"/>
            <a:ext cx="5438700" cy="4467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g3b0b6f56c3_0_6:notes"/>
          <p:cNvSpPr txBox="1">
            <a:spLocks noGrp="1"/>
          </p:cNvSpPr>
          <p:nvPr>
            <p:ph type="sldNum" idx="12"/>
          </p:nvPr>
        </p:nvSpPr>
        <p:spPr>
          <a:xfrm>
            <a:off x="3849688" y="9429750"/>
            <a:ext cx="29463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b0b6f56c3_0_73: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b0b6f56c3_0_73:notes"/>
          <p:cNvSpPr txBox="1">
            <a:spLocks noGrp="1"/>
          </p:cNvSpPr>
          <p:nvPr>
            <p:ph type="body" idx="1"/>
          </p:nvPr>
        </p:nvSpPr>
        <p:spPr>
          <a:xfrm>
            <a:off x="679450" y="4716463"/>
            <a:ext cx="5438700" cy="4467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Train on as large open datasets as possible (or use their pre-trained networks) before training further on more specialized tasks</a:t>
            </a:r>
            <a:endParaRPr/>
          </a:p>
        </p:txBody>
      </p:sp>
      <p:sp>
        <p:nvSpPr>
          <p:cNvPr id="140" name="Google Shape;140;g3b0b6f56c3_0_73:notes"/>
          <p:cNvSpPr txBox="1">
            <a:spLocks noGrp="1"/>
          </p:cNvSpPr>
          <p:nvPr>
            <p:ph type="sldNum" idx="12"/>
          </p:nvPr>
        </p:nvSpPr>
        <p:spPr>
          <a:xfrm>
            <a:off x="3849688" y="9429750"/>
            <a:ext cx="29463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b0b6f56c3_0_86:notes"/>
          <p:cNvSpPr>
            <a:spLocks noGrp="1" noRot="1" noChangeAspect="1"/>
          </p:cNvSpPr>
          <p:nvPr>
            <p:ph type="sldImg" idx="2"/>
          </p:nvPr>
        </p:nvSpPr>
        <p:spPr>
          <a:xfrm>
            <a:off x="917575" y="744538"/>
            <a:ext cx="4962600" cy="37227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b0b6f56c3_0_86:notes"/>
          <p:cNvSpPr txBox="1">
            <a:spLocks noGrp="1"/>
          </p:cNvSpPr>
          <p:nvPr>
            <p:ph type="body" idx="1"/>
          </p:nvPr>
        </p:nvSpPr>
        <p:spPr>
          <a:xfrm>
            <a:off x="679450" y="4716463"/>
            <a:ext cx="5438700" cy="4467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g3b0b6f56c3_0_86:notes"/>
          <p:cNvSpPr txBox="1">
            <a:spLocks noGrp="1"/>
          </p:cNvSpPr>
          <p:nvPr>
            <p:ph type="sldNum" idx="12"/>
          </p:nvPr>
        </p:nvSpPr>
        <p:spPr>
          <a:xfrm>
            <a:off x="3849688" y="9429750"/>
            <a:ext cx="29463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b0b6f56c3_0_93:notes"/>
          <p:cNvSpPr>
            <a:spLocks noGrp="1" noRot="1" noChangeAspect="1"/>
          </p:cNvSpPr>
          <p:nvPr>
            <p:ph type="sldImg" idx="2"/>
          </p:nvPr>
        </p:nvSpPr>
        <p:spPr>
          <a:xfrm>
            <a:off x="917575" y="744538"/>
            <a:ext cx="4962600" cy="37227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b0b6f56c3_0_93:notes"/>
          <p:cNvSpPr txBox="1">
            <a:spLocks noGrp="1"/>
          </p:cNvSpPr>
          <p:nvPr>
            <p:ph type="body" idx="1"/>
          </p:nvPr>
        </p:nvSpPr>
        <p:spPr>
          <a:xfrm>
            <a:off x="679450" y="4716463"/>
            <a:ext cx="5438700" cy="4467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g3b0b6f56c3_0_93:notes"/>
          <p:cNvSpPr txBox="1">
            <a:spLocks noGrp="1"/>
          </p:cNvSpPr>
          <p:nvPr>
            <p:ph type="sldNum" idx="12"/>
          </p:nvPr>
        </p:nvSpPr>
        <p:spPr>
          <a:xfrm>
            <a:off x="3849688" y="9429750"/>
            <a:ext cx="29463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Rubrikbild" type="title">
  <p:cSld name="TITLE">
    <p:spTree>
      <p:nvGrpSpPr>
        <p:cNvPr id="1" name="Shape 17"/>
        <p:cNvGrpSpPr/>
        <p:nvPr/>
      </p:nvGrpSpPr>
      <p:grpSpPr>
        <a:xfrm>
          <a:off x="0" y="0"/>
          <a:ext cx="0" cy="0"/>
          <a:chOff x="0" y="0"/>
          <a:chExt cx="0" cy="0"/>
        </a:xfrm>
      </p:grpSpPr>
      <p:sp>
        <p:nvSpPr>
          <p:cNvPr id="18" name="Google Shape;18;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lt1"/>
              </a:buClr>
              <a:buSzPts val="4400"/>
              <a:buFont typeface="Calibri"/>
              <a:buNone/>
              <a:defRPr sz="4400" b="0"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9" name="Google Shape;19;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marR="0" lvl="0" algn="ctr" rtl="0">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R="0" lvl="1"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20" name="Google Shape;20;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 name="Google Shape;22;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3" name="Google Shape;23;p2"/>
          <p:cNvPicPr preferRelativeResize="0"/>
          <p:nvPr/>
        </p:nvPicPr>
        <p:blipFill rotWithShape="1">
          <a:blip r:embed="rId2">
            <a:alphaModFix/>
          </a:blip>
          <a:srcRect/>
          <a:stretch/>
        </p:blipFill>
        <p:spPr>
          <a:xfrm rot="-5400000">
            <a:off x="-3105712" y="3105713"/>
            <a:ext cx="6865259" cy="65383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Rubrik och innehåll" type="obj">
  <p:cSld name="OBJECT">
    <p:spTree>
      <p:nvGrpSpPr>
        <p:cNvPr id="1" name="Shape 24"/>
        <p:cNvGrpSpPr/>
        <p:nvPr/>
      </p:nvGrpSpPr>
      <p:grpSpPr>
        <a:xfrm>
          <a:off x="0" y="0"/>
          <a:ext cx="0" cy="0"/>
          <a:chOff x="0" y="0"/>
          <a:chExt cx="0" cy="0"/>
        </a:xfrm>
      </p:grpSpPr>
      <p:sp>
        <p:nvSpPr>
          <p:cNvPr id="25" name="Google Shape;25;p3"/>
          <p:cNvSpPr txBox="1">
            <a:spLocks noGrp="1"/>
          </p:cNvSpPr>
          <p:nvPr>
            <p:ph type="title"/>
          </p:nvPr>
        </p:nvSpPr>
        <p:spPr>
          <a:xfrm rot="-5400000">
            <a:off x="-3438636" y="3123220"/>
            <a:ext cx="7488832" cy="61156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lt1"/>
              </a:buClr>
              <a:buSzPts val="4400"/>
              <a:buFont typeface="Calibri"/>
              <a:buNone/>
              <a:defRPr sz="4400" b="0"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 name="Google Shape;26;p3"/>
          <p:cNvSpPr txBox="1">
            <a:spLocks noGrp="1"/>
          </p:cNvSpPr>
          <p:nvPr>
            <p:ph type="body" idx="1"/>
          </p:nvPr>
        </p:nvSpPr>
        <p:spPr>
          <a:xfrm>
            <a:off x="827584" y="1628800"/>
            <a:ext cx="8316416"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7" name="Google Shape;27;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8" name="Google Shape;28;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9" name="Google Shape;29;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Avsnittsrubrik" type="secHead">
  <p:cSld name="SECTION_HEADER">
    <p:spTree>
      <p:nvGrpSpPr>
        <p:cNvPr id="1" name="Shape 30"/>
        <p:cNvGrpSpPr/>
        <p:nvPr/>
      </p:nvGrpSpPr>
      <p:grpSpPr>
        <a:xfrm>
          <a:off x="0" y="0"/>
          <a:ext cx="0" cy="0"/>
          <a:chOff x="0" y="0"/>
          <a:chExt cx="0" cy="0"/>
        </a:xfrm>
      </p:grpSpPr>
      <p:sp>
        <p:nvSpPr>
          <p:cNvPr id="31" name="Google Shape;31;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lt1"/>
              </a:buClr>
              <a:buSzPts val="4000"/>
              <a:buFont typeface="Calibri"/>
              <a:buNone/>
              <a:defRPr sz="4000" b="1"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2" name="Google Shape;32;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spcBef>
                <a:spcPts val="32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33" name="Google Shape;33;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vå innehållsdelar" type="twoObj">
  <p:cSld name="TWO_OBJECTS">
    <p:spTree>
      <p:nvGrpSpPr>
        <p:cNvPr id="1" name="Shape 36"/>
        <p:cNvGrpSpPr/>
        <p:nvPr/>
      </p:nvGrpSpPr>
      <p:grpSpPr>
        <a:xfrm>
          <a:off x="0" y="0"/>
          <a:ext cx="0" cy="0"/>
          <a:chOff x="0" y="0"/>
          <a:chExt cx="0" cy="0"/>
        </a:xfrm>
      </p:grpSpPr>
      <p:sp>
        <p:nvSpPr>
          <p:cNvPr id="37" name="Google Shape;37;p5"/>
          <p:cNvSpPr txBox="1">
            <a:spLocks noGrp="1"/>
          </p:cNvSpPr>
          <p:nvPr>
            <p:ph type="title"/>
          </p:nvPr>
        </p:nvSpPr>
        <p:spPr>
          <a:xfrm rot="-5400000">
            <a:off x="-3438636" y="3123220"/>
            <a:ext cx="7488832" cy="61156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lt1"/>
              </a:buClr>
              <a:buSzPts val="4400"/>
              <a:buFont typeface="Calibri"/>
              <a:buNone/>
              <a:defRPr sz="4400" b="0"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8" name="Google Shape;38;p5"/>
          <p:cNvSpPr txBox="1">
            <a:spLocks noGrp="1"/>
          </p:cNvSpPr>
          <p:nvPr>
            <p:ph type="body" idx="1"/>
          </p:nvPr>
        </p:nvSpPr>
        <p:spPr>
          <a:xfrm>
            <a:off x="755576" y="1628800"/>
            <a:ext cx="4038600" cy="45259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body" idx="2"/>
          </p:nvPr>
        </p:nvSpPr>
        <p:spPr>
          <a:xfrm>
            <a:off x="4860032" y="1628800"/>
            <a:ext cx="4038600" cy="45259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0" name="Google Shape;4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1" name="Google Shape;4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Jämförelse" type="twoTxTwoObj">
  <p:cSld name="TWO_OBJECTS_WITH_TEXT">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rot="-5400000">
            <a:off x="-3438636" y="3123220"/>
            <a:ext cx="7488832" cy="61156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lt1"/>
              </a:buClr>
              <a:buSzPts val="4400"/>
              <a:buFont typeface="Calibri"/>
              <a:buNone/>
              <a:defRPr sz="4400" b="0"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5" name="Google Shape;45;p6"/>
          <p:cNvSpPr txBox="1">
            <a:spLocks noGrp="1"/>
          </p:cNvSpPr>
          <p:nvPr>
            <p:ph type="body" idx="1"/>
          </p:nvPr>
        </p:nvSpPr>
        <p:spPr>
          <a:xfrm>
            <a:off x="827584" y="1412776"/>
            <a:ext cx="4040188" cy="63976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body" idx="2"/>
          </p:nvPr>
        </p:nvSpPr>
        <p:spPr>
          <a:xfrm>
            <a:off x="827584" y="2132856"/>
            <a:ext cx="4040188" cy="3951288"/>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body" idx="3"/>
          </p:nvPr>
        </p:nvSpPr>
        <p:spPr>
          <a:xfrm>
            <a:off x="5102225" y="1412776"/>
            <a:ext cx="4041775" cy="63976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body" idx="4"/>
          </p:nvPr>
        </p:nvSpPr>
        <p:spPr>
          <a:xfrm>
            <a:off x="5102225" y="2132856"/>
            <a:ext cx="4041775" cy="3951288"/>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9" name="Google Shape;49;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0" name="Google Shape;50;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1" name="Google Shape;51;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ast rubrik" type="titleOnly">
  <p:cSld name="TITLE_ONLY">
    <p:spTree>
      <p:nvGrpSpPr>
        <p:cNvPr id="1" name="Shape 52"/>
        <p:cNvGrpSpPr/>
        <p:nvPr/>
      </p:nvGrpSpPr>
      <p:grpSpPr>
        <a:xfrm>
          <a:off x="0" y="0"/>
          <a:ext cx="0" cy="0"/>
          <a:chOff x="0" y="0"/>
          <a:chExt cx="0" cy="0"/>
        </a:xfrm>
      </p:grpSpPr>
      <p:sp>
        <p:nvSpPr>
          <p:cNvPr id="53" name="Google Shape;53;p7"/>
          <p:cNvSpPr txBox="1">
            <a:spLocks noGrp="1"/>
          </p:cNvSpPr>
          <p:nvPr>
            <p:ph type="title"/>
          </p:nvPr>
        </p:nvSpPr>
        <p:spPr>
          <a:xfrm rot="-5400000">
            <a:off x="-3438636" y="3123220"/>
            <a:ext cx="7488832" cy="61156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lt1"/>
              </a:buClr>
              <a:buSzPts val="4400"/>
              <a:buFont typeface="Calibri"/>
              <a:buNone/>
              <a:defRPr sz="4400" b="0"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4" name="Google Shape;54;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om" type="blank">
  <p:cSld name="BLANK">
    <p:spTree>
      <p:nvGrpSpPr>
        <p:cNvPr id="1" name="Shape 57"/>
        <p:cNvGrpSpPr/>
        <p:nvPr/>
      </p:nvGrpSpPr>
      <p:grpSpPr>
        <a:xfrm>
          <a:off x="0" y="0"/>
          <a:ext cx="0" cy="0"/>
          <a:chOff x="0" y="0"/>
          <a:chExt cx="0" cy="0"/>
        </a:xfrm>
      </p:grpSpPr>
      <p:sp>
        <p:nvSpPr>
          <p:cNvPr id="58" name="Google Shape;58;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nnehåll med bildtext" type="objTx">
  <p:cSld name="OBJECT_WITH_CAPTION_TEXT">
    <p:spTree>
      <p:nvGrpSpPr>
        <p:cNvPr id="1" name="Shape 61"/>
        <p:cNvGrpSpPr/>
        <p:nvPr/>
      </p:nvGrpSpPr>
      <p:grpSpPr>
        <a:xfrm>
          <a:off x="0" y="0"/>
          <a:ext cx="0" cy="0"/>
          <a:chOff x="0" y="0"/>
          <a:chExt cx="0" cy="0"/>
        </a:xfrm>
      </p:grpSpPr>
      <p:sp>
        <p:nvSpPr>
          <p:cNvPr id="62" name="Google Shape;62;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lt1"/>
              </a:buClr>
              <a:buSzPts val="2000"/>
              <a:buFont typeface="Calibri"/>
              <a:buNone/>
              <a:defRPr sz="2000" b="1"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3" name="Google Shape;63;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65" name="Google Shape;65;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6" name="Google Shape;66;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ld med bildtext" type="picTx">
  <p:cSld name="PICTURE_WITH_CAPTION_TEXT">
    <p:spTree>
      <p:nvGrpSpPr>
        <p:cNvPr id="1" name="Shape 68"/>
        <p:cNvGrpSpPr/>
        <p:nvPr/>
      </p:nvGrpSpPr>
      <p:grpSpPr>
        <a:xfrm>
          <a:off x="0" y="0"/>
          <a:ext cx="0" cy="0"/>
          <a:chOff x="0" y="0"/>
          <a:chExt cx="0" cy="0"/>
        </a:xfrm>
      </p:grpSpPr>
      <p:sp>
        <p:nvSpPr>
          <p:cNvPr id="69" name="Google Shape;69;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lt1"/>
              </a:buClr>
              <a:buSzPts val="2000"/>
              <a:buFont typeface="Calibri"/>
              <a:buNone/>
              <a:defRPr sz="2000" b="1"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0" name="Google Shape;70;p10"/>
          <p:cNvSpPr>
            <a:spLocks noGrp="1"/>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72" name="Google Shape;72;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3" name="Google Shape;73;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4" name="Google Shape;74;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Rubrik och lodrät text" type="vertTx">
  <p:cSld name="VERTICAL_TEXT">
    <p:spTree>
      <p:nvGrpSpPr>
        <p:cNvPr id="1" name="Shape 75"/>
        <p:cNvGrpSpPr/>
        <p:nvPr/>
      </p:nvGrpSpPr>
      <p:grpSpPr>
        <a:xfrm>
          <a:off x="0" y="0"/>
          <a:ext cx="0" cy="0"/>
          <a:chOff x="0" y="0"/>
          <a:chExt cx="0" cy="0"/>
        </a:xfrm>
      </p:grpSpPr>
      <p:sp>
        <p:nvSpPr>
          <p:cNvPr id="76" name="Google Shape;76;p11"/>
          <p:cNvSpPr txBox="1">
            <a:spLocks noGrp="1"/>
          </p:cNvSpPr>
          <p:nvPr>
            <p:ph type="title"/>
          </p:nvPr>
        </p:nvSpPr>
        <p:spPr>
          <a:xfrm rot="-5400000">
            <a:off x="-3438636" y="3123220"/>
            <a:ext cx="7488832" cy="61156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lt1"/>
              </a:buClr>
              <a:buSzPts val="4400"/>
              <a:buFont typeface="Calibri"/>
              <a:buNone/>
              <a:defRPr sz="4400" b="0"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7" name="Google Shape;77;p11"/>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8" name="Google Shape;78;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9" name="Google Shape;79;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0" name="Google Shape;80;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Lodrät rubrik och text" type="vertTitleAndTx">
  <p:cSld name="VERTICAL_TITLE_AND_VERTICAL_TEXT">
    <p:spTree>
      <p:nvGrpSpPr>
        <p:cNvPr id="1" name="Shape 81"/>
        <p:cNvGrpSpPr/>
        <p:nvPr/>
      </p:nvGrpSpPr>
      <p:grpSpPr>
        <a:xfrm>
          <a:off x="0" y="0"/>
          <a:ext cx="0" cy="0"/>
          <a:chOff x="0" y="0"/>
          <a:chExt cx="0" cy="0"/>
        </a:xfrm>
      </p:grpSpPr>
      <p:sp>
        <p:nvSpPr>
          <p:cNvPr id="82" name="Google Shape;82;p12"/>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lt1"/>
              </a:buClr>
              <a:buSzPts val="4400"/>
              <a:buFont typeface="Calibri"/>
              <a:buNone/>
              <a:defRPr sz="4400" b="0"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3" name="Google Shape;83;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4" name="Google Shape;84;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5" name="Google Shape;85;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6" name="Google Shape;86;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gi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1" name="Google Shape;11;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4" name="Google Shape;14;p1"/>
          <p:cNvPicPr preferRelativeResize="0"/>
          <p:nvPr/>
        </p:nvPicPr>
        <p:blipFill rotWithShape="1">
          <a:blip r:embed="rId13">
            <a:alphaModFix/>
          </a:blip>
          <a:srcRect/>
          <a:stretch/>
        </p:blipFill>
        <p:spPr>
          <a:xfrm>
            <a:off x="5580112" y="5693293"/>
            <a:ext cx="3456078" cy="1164707"/>
          </a:xfrm>
          <a:prstGeom prst="rect">
            <a:avLst/>
          </a:prstGeom>
          <a:noFill/>
          <a:ln>
            <a:noFill/>
          </a:ln>
        </p:spPr>
      </p:pic>
      <p:pic>
        <p:nvPicPr>
          <p:cNvPr id="15" name="Google Shape;15;p1"/>
          <p:cNvPicPr preferRelativeResize="0"/>
          <p:nvPr/>
        </p:nvPicPr>
        <p:blipFill rotWithShape="1">
          <a:blip r:embed="rId14">
            <a:alphaModFix/>
          </a:blip>
          <a:srcRect/>
          <a:stretch/>
        </p:blipFill>
        <p:spPr>
          <a:xfrm rot="-5400000">
            <a:off x="-3105712" y="3105713"/>
            <a:ext cx="6865259" cy="653834"/>
          </a:xfrm>
          <a:prstGeom prst="rect">
            <a:avLst/>
          </a:prstGeom>
          <a:solidFill>
            <a:schemeClr val="dk1">
              <a:alpha val="21960"/>
            </a:schemeClr>
          </a:solidFill>
          <a:ln>
            <a:noFill/>
          </a:ln>
        </p:spPr>
      </p:pic>
      <p:sp>
        <p:nvSpPr>
          <p:cNvPr id="16" name="Google Shape;16;p1"/>
          <p:cNvSpPr txBox="1">
            <a:spLocks noGrp="1"/>
          </p:cNvSpPr>
          <p:nvPr>
            <p:ph type="title"/>
          </p:nvPr>
        </p:nvSpPr>
        <p:spPr>
          <a:xfrm rot="-5400000">
            <a:off x="-3438636" y="3123220"/>
            <a:ext cx="7488832" cy="61156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lt1"/>
              </a:buClr>
              <a:buSzPts val="4400"/>
              <a:buFont typeface="Calibri"/>
              <a:buNone/>
              <a:defRPr sz="4400" b="0"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www.youtube.com/watch?v=JBImFrI6h7Q" TargetMode="External"/><Relationship Id="rId3" Type="http://schemas.openxmlformats.org/officeDocument/2006/relationships/image" Target="../media/image5.png"/><Relationship Id="rId7"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www.youtube.com/watch?v=lXUQ-DdSDoE" TargetMode="External"/><Relationship Id="rId11" Type="http://schemas.openxmlformats.org/officeDocument/2006/relationships/image" Target="../media/image10.jpg"/><Relationship Id="rId5" Type="http://schemas.openxmlformats.org/officeDocument/2006/relationships/image" Target="../media/image7.png"/><Relationship Id="rId10" Type="http://schemas.openxmlformats.org/officeDocument/2006/relationships/hyperlink" Target="http://www.youtube.com/watch?v=AgkfIQ4IGaM" TargetMode="External"/><Relationship Id="rId4" Type="http://schemas.openxmlformats.org/officeDocument/2006/relationships/image" Target="../media/image6.png"/><Relationship Id="rId9" Type="http://schemas.openxmlformats.org/officeDocument/2006/relationships/image" Target="../media/image9.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istill.pub/2018/building-blocks/"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3"/>
          <p:cNvSpPr txBox="1">
            <a:spLocks noGrp="1"/>
          </p:cNvSpPr>
          <p:nvPr>
            <p:ph type="ctrTitle"/>
          </p:nvPr>
        </p:nvSpPr>
        <p:spPr>
          <a:xfrm>
            <a:off x="899592" y="188640"/>
            <a:ext cx="7772400" cy="5400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3959"/>
              <a:buFont typeface="Avenir"/>
              <a:buNone/>
            </a:pPr>
            <a:br>
              <a:rPr lang="en-US" sz="3959" b="0" i="0" u="none" strike="noStrike" cap="none">
                <a:solidFill>
                  <a:schemeClr val="dk1"/>
                </a:solidFill>
                <a:latin typeface="Avenir"/>
                <a:ea typeface="Avenir"/>
                <a:cs typeface="Avenir"/>
                <a:sym typeface="Avenir"/>
              </a:rPr>
            </a:br>
            <a:br>
              <a:rPr lang="en-US" sz="3959" b="0" i="0" u="none" strike="noStrike" cap="none">
                <a:solidFill>
                  <a:schemeClr val="dk1"/>
                </a:solidFill>
                <a:latin typeface="Avenir"/>
                <a:ea typeface="Avenir"/>
                <a:cs typeface="Avenir"/>
                <a:sym typeface="Avenir"/>
              </a:rPr>
            </a:br>
            <a:br>
              <a:rPr lang="en-US" sz="3959" b="0" i="0" u="none" strike="noStrike" cap="none">
                <a:solidFill>
                  <a:schemeClr val="dk1"/>
                </a:solidFill>
                <a:latin typeface="Avenir"/>
                <a:ea typeface="Avenir"/>
                <a:cs typeface="Avenir"/>
                <a:sym typeface="Avenir"/>
              </a:rPr>
            </a:br>
            <a:br>
              <a:rPr lang="en-US" sz="3959" b="0" i="0" u="none" strike="noStrike" cap="none">
                <a:solidFill>
                  <a:schemeClr val="dk1"/>
                </a:solidFill>
                <a:latin typeface="Avenir"/>
                <a:ea typeface="Avenir"/>
                <a:cs typeface="Avenir"/>
                <a:sym typeface="Avenir"/>
              </a:rPr>
            </a:br>
            <a:br>
              <a:rPr lang="en-US" sz="3959" b="0" i="0" u="none" strike="noStrike" cap="none">
                <a:solidFill>
                  <a:schemeClr val="dk1"/>
                </a:solidFill>
                <a:latin typeface="Avenir"/>
                <a:ea typeface="Avenir"/>
                <a:cs typeface="Avenir"/>
                <a:sym typeface="Avenir"/>
              </a:rPr>
            </a:br>
            <a:br>
              <a:rPr lang="en-US" sz="3959" b="0" i="0" u="none" strike="noStrike" cap="none">
                <a:solidFill>
                  <a:schemeClr val="dk1"/>
                </a:solidFill>
                <a:latin typeface="Avenir"/>
                <a:ea typeface="Avenir"/>
                <a:cs typeface="Avenir"/>
                <a:sym typeface="Avenir"/>
              </a:rPr>
            </a:br>
            <a:br>
              <a:rPr lang="en-US" sz="3959" b="0" i="0" u="none" strike="noStrike" cap="none">
                <a:solidFill>
                  <a:schemeClr val="dk1"/>
                </a:solidFill>
                <a:latin typeface="Avenir"/>
                <a:ea typeface="Avenir"/>
                <a:cs typeface="Avenir"/>
                <a:sym typeface="Avenir"/>
              </a:rPr>
            </a:br>
            <a:r>
              <a:rPr lang="en-US" sz="3959">
                <a:solidFill>
                  <a:schemeClr val="dk1"/>
                </a:solidFill>
                <a:latin typeface="Avenir"/>
                <a:ea typeface="Avenir"/>
                <a:cs typeface="Avenir"/>
                <a:sym typeface="Avenir"/>
              </a:rPr>
              <a:t>AI and AR:</a:t>
            </a:r>
            <a:endParaRPr sz="3959">
              <a:solidFill>
                <a:schemeClr val="dk1"/>
              </a:solidFill>
              <a:latin typeface="Avenir"/>
              <a:ea typeface="Avenir"/>
              <a:cs typeface="Avenir"/>
              <a:sym typeface="Avenir"/>
            </a:endParaRPr>
          </a:p>
          <a:p>
            <a:pPr marL="0" marR="0" lvl="0" indent="0" algn="ctr" rtl="0">
              <a:spcBef>
                <a:spcPts val="0"/>
              </a:spcBef>
              <a:spcAft>
                <a:spcPts val="0"/>
              </a:spcAft>
              <a:buClr>
                <a:schemeClr val="dk1"/>
              </a:buClr>
              <a:buSzPts val="3959"/>
              <a:buFont typeface="Avenir"/>
              <a:buNone/>
            </a:pPr>
            <a:r>
              <a:rPr lang="en-US" sz="3959">
                <a:solidFill>
                  <a:schemeClr val="dk1"/>
                </a:solidFill>
                <a:latin typeface="Avenir"/>
                <a:ea typeface="Avenir"/>
                <a:cs typeface="Avenir"/>
                <a:sym typeface="Avenir"/>
              </a:rPr>
              <a:t>(Re-)engineering a brain</a:t>
            </a:r>
            <a:endParaRPr sz="3959">
              <a:solidFill>
                <a:schemeClr val="dk1"/>
              </a:solidFill>
              <a:latin typeface="Avenir"/>
              <a:ea typeface="Avenir"/>
              <a:cs typeface="Avenir"/>
              <a:sym typeface="Avenir"/>
            </a:endParaRPr>
          </a:p>
          <a:p>
            <a:pPr marL="0" marR="0" lvl="0" indent="0" algn="ctr" rtl="0">
              <a:spcBef>
                <a:spcPts val="0"/>
              </a:spcBef>
              <a:spcAft>
                <a:spcPts val="0"/>
              </a:spcAft>
              <a:buClr>
                <a:schemeClr val="dk1"/>
              </a:buClr>
              <a:buSzPts val="3959"/>
              <a:buFont typeface="Avenir"/>
              <a:buNone/>
            </a:pPr>
            <a:r>
              <a:rPr lang="en-US" sz="3959">
                <a:solidFill>
                  <a:schemeClr val="dk1"/>
                </a:solidFill>
                <a:latin typeface="Avenir"/>
                <a:ea typeface="Avenir"/>
                <a:cs typeface="Avenir"/>
                <a:sym typeface="Avenir"/>
              </a:rPr>
              <a:t>Joakim Pettersson</a:t>
            </a:r>
            <a:endParaRPr sz="3959">
              <a:solidFill>
                <a:schemeClr val="dk1"/>
              </a:solidFill>
              <a:latin typeface="Avenir"/>
              <a:ea typeface="Avenir"/>
              <a:cs typeface="Avenir"/>
              <a:sym typeface="Avenir"/>
            </a:endParaRPr>
          </a:p>
        </p:txBody>
      </p:sp>
      <p:pic>
        <p:nvPicPr>
          <p:cNvPr id="92" name="Google Shape;92;p13"/>
          <p:cNvPicPr preferRelativeResize="0"/>
          <p:nvPr/>
        </p:nvPicPr>
        <p:blipFill rotWithShape="1">
          <a:blip r:embed="rId3">
            <a:alphaModFix/>
          </a:blip>
          <a:srcRect/>
          <a:stretch/>
        </p:blipFill>
        <p:spPr>
          <a:xfrm>
            <a:off x="899592" y="620688"/>
            <a:ext cx="7980067" cy="331236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4"/>
          <p:cNvSpPr txBox="1">
            <a:spLocks noGrp="1"/>
          </p:cNvSpPr>
          <p:nvPr>
            <p:ph type="title"/>
          </p:nvPr>
        </p:nvSpPr>
        <p:spPr>
          <a:xfrm rot="-5400000">
            <a:off x="-3438600" y="3123116"/>
            <a:ext cx="7488900" cy="6117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3959"/>
              <a:buFont typeface="Avenir"/>
              <a:buNone/>
            </a:pPr>
            <a:r>
              <a:rPr lang="en-US" sz="3959">
                <a:latin typeface="Avenir"/>
                <a:ea typeface="Avenir"/>
                <a:cs typeface="Avenir"/>
                <a:sym typeface="Avenir"/>
              </a:rPr>
              <a:t>Welcome</a:t>
            </a:r>
            <a:endParaRPr sz="3959" b="0" i="0" u="none" strike="noStrike" cap="none">
              <a:solidFill>
                <a:schemeClr val="lt1"/>
              </a:solidFill>
              <a:latin typeface="Avenir"/>
              <a:ea typeface="Avenir"/>
              <a:cs typeface="Avenir"/>
              <a:sym typeface="Avenir"/>
            </a:endParaRPr>
          </a:p>
        </p:txBody>
      </p:sp>
      <p:sp>
        <p:nvSpPr>
          <p:cNvPr id="98" name="Google Shape;98;p14"/>
          <p:cNvSpPr txBox="1"/>
          <p:nvPr/>
        </p:nvSpPr>
        <p:spPr>
          <a:xfrm>
            <a:off x="1115625" y="764700"/>
            <a:ext cx="7083600" cy="616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sz="3600" b="1">
                <a:solidFill>
                  <a:schemeClr val="dk1"/>
                </a:solidFill>
                <a:latin typeface="Calibri"/>
                <a:ea typeface="Calibri"/>
                <a:cs typeface="Calibri"/>
                <a:sym typeface="Calibri"/>
              </a:rPr>
              <a:t>Why are we here?</a:t>
            </a:r>
            <a:endParaRPr sz="3600" b="1">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99" name="Google Shape;99;p14"/>
          <p:cNvPicPr preferRelativeResize="0"/>
          <p:nvPr/>
        </p:nvPicPr>
        <p:blipFill rotWithShape="1">
          <a:blip r:embed="rId3">
            <a:alphaModFix/>
          </a:blip>
          <a:srcRect r="3006"/>
          <a:stretch/>
        </p:blipFill>
        <p:spPr>
          <a:xfrm>
            <a:off x="5468925" y="4009125"/>
            <a:ext cx="3675075" cy="1297000"/>
          </a:xfrm>
          <a:prstGeom prst="rect">
            <a:avLst/>
          </a:prstGeom>
          <a:noFill/>
          <a:ln>
            <a:noFill/>
          </a:ln>
        </p:spPr>
      </p:pic>
      <p:pic>
        <p:nvPicPr>
          <p:cNvPr id="100" name="Google Shape;100;p14"/>
          <p:cNvPicPr preferRelativeResize="0"/>
          <p:nvPr/>
        </p:nvPicPr>
        <p:blipFill rotWithShape="1">
          <a:blip r:embed="rId4">
            <a:alphaModFix/>
          </a:blip>
          <a:srcRect r="21868"/>
          <a:stretch/>
        </p:blipFill>
        <p:spPr>
          <a:xfrm>
            <a:off x="7333975" y="5407250"/>
            <a:ext cx="1751725" cy="515675"/>
          </a:xfrm>
          <a:prstGeom prst="rect">
            <a:avLst/>
          </a:prstGeom>
          <a:noFill/>
          <a:ln>
            <a:noFill/>
          </a:ln>
        </p:spPr>
      </p:pic>
      <p:pic>
        <p:nvPicPr>
          <p:cNvPr id="101" name="Google Shape;101;p14"/>
          <p:cNvPicPr preferRelativeResize="0"/>
          <p:nvPr/>
        </p:nvPicPr>
        <p:blipFill rotWithShape="1">
          <a:blip r:embed="rId5">
            <a:alphaModFix/>
          </a:blip>
          <a:srcRect r="21868"/>
          <a:stretch/>
        </p:blipFill>
        <p:spPr>
          <a:xfrm>
            <a:off x="7333968" y="5922925"/>
            <a:ext cx="1751732" cy="515675"/>
          </a:xfrm>
          <a:prstGeom prst="rect">
            <a:avLst/>
          </a:prstGeom>
          <a:noFill/>
          <a:ln>
            <a:noFill/>
          </a:ln>
        </p:spPr>
      </p:pic>
      <p:pic>
        <p:nvPicPr>
          <p:cNvPr id="102" name="Google Shape;102;p14" descr="At its 2018 I/O developer conference, Google showed off some updates coming to Google Home and Assistant. One feature — Google Duplex — can make phone calls for you and talk to the person on the other end to schedule appointments and make reservations. Google says the feature will roll out as an experiment over the coming weeks.&#10;&#10;Tech Insider tells you all you need to know about tech: gadgets, how-to's, gaming, science, digital culture, and more. &#10;Subscribe to our channel and visit us at: http://www.businessinsider.com/sai&#10;TI on Facebook: https://www.facebook.com/techinsider&#10;TI on Instagram: https://www.instagram.com/tech_insider/&#10;TI on Twitter: https://twitter.com/techinsider" title="New Google AI Can Have Real Life Conversations With Strangers">
            <a:hlinkClick r:id="rId6"/>
          </p:cNvPr>
          <p:cNvPicPr preferRelativeResize="0"/>
          <p:nvPr/>
        </p:nvPicPr>
        <p:blipFill>
          <a:blip r:embed="rId7">
            <a:alphaModFix/>
          </a:blip>
          <a:stretch>
            <a:fillRect/>
          </a:stretch>
        </p:blipFill>
        <p:spPr>
          <a:xfrm>
            <a:off x="659075" y="4363250"/>
            <a:ext cx="4165600" cy="3124200"/>
          </a:xfrm>
          <a:prstGeom prst="rect">
            <a:avLst/>
          </a:prstGeom>
          <a:noFill/>
          <a:ln>
            <a:noFill/>
          </a:ln>
        </p:spPr>
      </p:pic>
      <p:pic>
        <p:nvPicPr>
          <p:cNvPr id="103" name="Google Shape;103;p14" descr="Bert, the iCub humanoid robot, is helping researchers better understand how humans create mental models of the world around them.  &#10;&#10;Professor Steve Levinson and his colleagues in the Language Acquisition and Robotics Lab at the Beckman Institute are particularly interested in getting Bert to interact with humans using spoken, natural language.  &#10;&#10;The research revolves around the idea of embodied cognition.  Unlike other forms of artificial intelligence, the models that Bert uses to understand the world aren't given to him by outside programmers.  Instead, the iCub creates its mental models itself by directly interacting with the researchers and the world around it using its physical body.  The researchers hope that, since Bert has a physical body similar to a human's, the mental models that it creates will be more like a human's as well.&#10;&#10;Stephen Levinson is a professor in the Department of Electrical and Computer Engineering at the University of Illinois at Urbana-Champaign and full-time faculty member in Beckman’s Artificial Intelligence Group.&#10;&#10;To learn more about the latest research being done with Bert, please visit...&#10;http://beckman.illinois.edu/news/2015/05/intelligence-in-robots" title="Teaching Bert: iCub Robot Learns About the World">
            <a:hlinkClick r:id="rId8"/>
          </p:cNvPr>
          <p:cNvPicPr preferRelativeResize="0"/>
          <p:nvPr/>
        </p:nvPicPr>
        <p:blipFill>
          <a:blip r:embed="rId9">
            <a:alphaModFix/>
          </a:blip>
          <a:stretch>
            <a:fillRect/>
          </a:stretch>
        </p:blipFill>
        <p:spPr>
          <a:xfrm>
            <a:off x="659075" y="1638744"/>
            <a:ext cx="4165600" cy="3124209"/>
          </a:xfrm>
          <a:prstGeom prst="rect">
            <a:avLst/>
          </a:prstGeom>
          <a:noFill/>
          <a:ln>
            <a:noFill/>
          </a:ln>
        </p:spPr>
      </p:pic>
      <p:pic>
        <p:nvPicPr>
          <p:cNvPr id="104" name="Google Shape;104;p14"/>
          <p:cNvPicPr preferRelativeResize="0"/>
          <p:nvPr/>
        </p:nvPicPr>
        <p:blipFill rotWithShape="1">
          <a:blip r:embed="rId3">
            <a:alphaModFix/>
          </a:blip>
          <a:srcRect r="3006"/>
          <a:stretch/>
        </p:blipFill>
        <p:spPr>
          <a:xfrm>
            <a:off x="5323225" y="4009125"/>
            <a:ext cx="3675075" cy="1297000"/>
          </a:xfrm>
          <a:prstGeom prst="rect">
            <a:avLst/>
          </a:prstGeom>
          <a:noFill/>
          <a:ln>
            <a:noFill/>
          </a:ln>
        </p:spPr>
      </p:pic>
      <p:pic>
        <p:nvPicPr>
          <p:cNvPr id="105" name="Google Shape;105;p14"/>
          <p:cNvPicPr preferRelativeResize="0"/>
          <p:nvPr/>
        </p:nvPicPr>
        <p:blipFill rotWithShape="1">
          <a:blip r:embed="rId4">
            <a:alphaModFix/>
          </a:blip>
          <a:srcRect r="21868"/>
          <a:stretch/>
        </p:blipFill>
        <p:spPr>
          <a:xfrm>
            <a:off x="7188275" y="5407250"/>
            <a:ext cx="1751725" cy="515675"/>
          </a:xfrm>
          <a:prstGeom prst="rect">
            <a:avLst/>
          </a:prstGeom>
          <a:noFill/>
          <a:ln>
            <a:noFill/>
          </a:ln>
        </p:spPr>
      </p:pic>
      <p:pic>
        <p:nvPicPr>
          <p:cNvPr id="106" name="Google Shape;106;p14"/>
          <p:cNvPicPr preferRelativeResize="0"/>
          <p:nvPr/>
        </p:nvPicPr>
        <p:blipFill rotWithShape="1">
          <a:blip r:embed="rId5">
            <a:alphaModFix/>
          </a:blip>
          <a:srcRect r="21868"/>
          <a:stretch/>
        </p:blipFill>
        <p:spPr>
          <a:xfrm>
            <a:off x="7188268" y="5922925"/>
            <a:ext cx="1751732" cy="515675"/>
          </a:xfrm>
          <a:prstGeom prst="rect">
            <a:avLst/>
          </a:prstGeom>
          <a:noFill/>
          <a:ln>
            <a:noFill/>
          </a:ln>
        </p:spPr>
      </p:pic>
      <p:pic>
        <p:nvPicPr>
          <p:cNvPr id="107" name="Google Shape;107;p14" descr="Code and more info: http://yosinski.com/deepvis" title="Deep Visualization Toolbox">
            <a:hlinkClick r:id="rId10"/>
          </p:cNvPr>
          <p:cNvPicPr preferRelativeResize="0"/>
          <p:nvPr/>
        </p:nvPicPr>
        <p:blipFill>
          <a:blip r:embed="rId11">
            <a:alphaModFix/>
          </a:blip>
          <a:stretch>
            <a:fillRect/>
          </a:stretch>
        </p:blipFill>
        <p:spPr>
          <a:xfrm>
            <a:off x="4977075" y="840806"/>
            <a:ext cx="4021225" cy="301591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5"/>
          <p:cNvSpPr txBox="1">
            <a:spLocks noGrp="1"/>
          </p:cNvSpPr>
          <p:nvPr>
            <p:ph type="title"/>
          </p:nvPr>
        </p:nvSpPr>
        <p:spPr>
          <a:xfrm rot="-5400000">
            <a:off x="-3438600" y="3123116"/>
            <a:ext cx="7488900" cy="6117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3959"/>
              <a:buFont typeface="Avenir"/>
              <a:buNone/>
            </a:pPr>
            <a:r>
              <a:rPr lang="en-US" sz="3959">
                <a:latin typeface="Avenir"/>
                <a:ea typeface="Avenir"/>
                <a:cs typeface="Avenir"/>
                <a:sym typeface="Avenir"/>
              </a:rPr>
              <a:t>Content</a:t>
            </a:r>
            <a:endParaRPr sz="3959" b="0" i="0" u="none" strike="noStrike" cap="none">
              <a:solidFill>
                <a:schemeClr val="lt1"/>
              </a:solidFill>
              <a:latin typeface="Avenir"/>
              <a:ea typeface="Avenir"/>
              <a:cs typeface="Avenir"/>
              <a:sym typeface="Avenir"/>
            </a:endParaRPr>
          </a:p>
        </p:txBody>
      </p:sp>
      <p:sp>
        <p:nvSpPr>
          <p:cNvPr id="113" name="Google Shape;113;p15"/>
          <p:cNvSpPr/>
          <p:nvPr/>
        </p:nvSpPr>
        <p:spPr>
          <a:xfrm>
            <a:off x="1115625" y="1497275"/>
            <a:ext cx="7083600" cy="4418100"/>
          </a:xfrm>
          <a:prstGeom prst="rect">
            <a:avLst/>
          </a:prstGeom>
          <a:noFill/>
          <a:ln>
            <a:noFill/>
          </a:ln>
        </p:spPr>
        <p:txBody>
          <a:bodyPr spcFirstLastPara="1" wrap="square" lIns="91425" tIns="45700" rIns="91425" bIns="45700" anchor="t" anchorCtr="0">
            <a:noAutofit/>
          </a:bodyPr>
          <a:lstStyle/>
          <a:p>
            <a:pPr marL="457200" lvl="0" indent="-406400" algn="l" rtl="0">
              <a:spcBef>
                <a:spcPts val="0"/>
              </a:spcBef>
              <a:spcAft>
                <a:spcPts val="0"/>
              </a:spcAft>
              <a:buClr>
                <a:schemeClr val="dk1"/>
              </a:buClr>
              <a:buSzPts val="2800"/>
              <a:buFont typeface="Calibri"/>
              <a:buAutoNum type="arabicPeriod"/>
            </a:pPr>
            <a:r>
              <a:rPr lang="en-US" sz="2800">
                <a:solidFill>
                  <a:schemeClr val="dk1"/>
                </a:solidFill>
                <a:latin typeface="Calibri"/>
                <a:ea typeface="Calibri"/>
                <a:cs typeface="Calibri"/>
                <a:sym typeface="Calibri"/>
              </a:rPr>
              <a:t>Terminology: What is AI and AR?</a:t>
            </a:r>
            <a:endParaRPr sz="2800">
              <a:solidFill>
                <a:schemeClr val="dk1"/>
              </a:solidFill>
              <a:latin typeface="Calibri"/>
              <a:ea typeface="Calibri"/>
              <a:cs typeface="Calibri"/>
              <a:sym typeface="Calibri"/>
            </a:endParaRPr>
          </a:p>
          <a:p>
            <a:pPr marL="457200" marR="0" lvl="0" indent="-406400" algn="l" rtl="0">
              <a:spcBef>
                <a:spcPts val="0"/>
              </a:spcBef>
              <a:spcAft>
                <a:spcPts val="0"/>
              </a:spcAft>
              <a:buClr>
                <a:schemeClr val="dk1"/>
              </a:buClr>
              <a:buSzPts val="2800"/>
              <a:buFont typeface="Calibri"/>
              <a:buAutoNum type="arabicPeriod"/>
            </a:pPr>
            <a:r>
              <a:rPr lang="en-US" sz="2800">
                <a:solidFill>
                  <a:schemeClr val="dk1"/>
                </a:solidFill>
                <a:latin typeface="Calibri"/>
                <a:ea typeface="Calibri"/>
                <a:cs typeface="Calibri"/>
                <a:sym typeface="Calibri"/>
              </a:rPr>
              <a:t>Training: What data to use?</a:t>
            </a:r>
            <a:endParaRPr sz="2800">
              <a:solidFill>
                <a:schemeClr val="dk1"/>
              </a:solidFill>
              <a:latin typeface="Calibri"/>
              <a:ea typeface="Calibri"/>
              <a:cs typeface="Calibri"/>
              <a:sym typeface="Calibri"/>
            </a:endParaRPr>
          </a:p>
          <a:p>
            <a:pPr marL="457200" lvl="0" indent="-406400" algn="l" rtl="0">
              <a:spcBef>
                <a:spcPts val="0"/>
              </a:spcBef>
              <a:spcAft>
                <a:spcPts val="0"/>
              </a:spcAft>
              <a:buClr>
                <a:schemeClr val="dk1"/>
              </a:buClr>
              <a:buSzPts val="2800"/>
              <a:buFont typeface="Calibri"/>
              <a:buAutoNum type="arabicPeriod"/>
            </a:pPr>
            <a:r>
              <a:rPr lang="en-US" sz="2800">
                <a:solidFill>
                  <a:schemeClr val="dk1"/>
                </a:solidFill>
                <a:latin typeface="Calibri"/>
                <a:ea typeface="Calibri"/>
                <a:cs typeface="Calibri"/>
                <a:sym typeface="Calibri"/>
              </a:rPr>
              <a:t>What tools to use?</a:t>
            </a:r>
            <a:endParaRPr sz="2800">
              <a:solidFill>
                <a:schemeClr val="dk1"/>
              </a:solidFill>
              <a:latin typeface="Calibri"/>
              <a:ea typeface="Calibri"/>
              <a:cs typeface="Calibri"/>
              <a:sym typeface="Calibri"/>
            </a:endParaRPr>
          </a:p>
          <a:p>
            <a:pPr marL="457200" marR="0" lvl="0" indent="-406400" algn="l" rtl="0">
              <a:spcBef>
                <a:spcPts val="0"/>
              </a:spcBef>
              <a:spcAft>
                <a:spcPts val="0"/>
              </a:spcAft>
              <a:buClr>
                <a:schemeClr val="dk1"/>
              </a:buClr>
              <a:buSzPts val="2800"/>
              <a:buFont typeface="Calibri"/>
              <a:buAutoNum type="arabicPeriod"/>
            </a:pPr>
            <a:r>
              <a:rPr lang="en-US" sz="2800">
                <a:solidFill>
                  <a:schemeClr val="dk1"/>
                </a:solidFill>
                <a:latin typeface="Calibri"/>
                <a:ea typeface="Calibri"/>
                <a:cs typeface="Calibri"/>
                <a:sym typeface="Calibri"/>
              </a:rPr>
              <a:t>What hardware to use?</a:t>
            </a:r>
            <a:endParaRPr sz="2800">
              <a:solidFill>
                <a:schemeClr val="dk1"/>
              </a:solidFill>
              <a:latin typeface="Calibri"/>
              <a:ea typeface="Calibri"/>
              <a:cs typeface="Calibri"/>
              <a:sym typeface="Calibri"/>
            </a:endParaRPr>
          </a:p>
          <a:p>
            <a:pPr marL="457200" lvl="0" indent="-406400" algn="l" rtl="0">
              <a:spcBef>
                <a:spcPts val="0"/>
              </a:spcBef>
              <a:spcAft>
                <a:spcPts val="0"/>
              </a:spcAft>
              <a:buClr>
                <a:schemeClr val="dk1"/>
              </a:buClr>
              <a:buSzPts val="2800"/>
              <a:buFont typeface="Calibri"/>
              <a:buAutoNum type="arabicPeriod"/>
            </a:pPr>
            <a:r>
              <a:rPr lang="en-US" sz="2800">
                <a:solidFill>
                  <a:schemeClr val="dk1"/>
                </a:solidFill>
                <a:latin typeface="Calibri"/>
                <a:ea typeface="Calibri"/>
                <a:cs typeface="Calibri"/>
                <a:sym typeface="Calibri"/>
              </a:rPr>
              <a:t>What’s going on with AR?</a:t>
            </a:r>
            <a:endParaRPr sz="2800">
              <a:solidFill>
                <a:schemeClr val="dk1"/>
              </a:solidFill>
              <a:latin typeface="Calibri"/>
              <a:ea typeface="Calibri"/>
              <a:cs typeface="Calibri"/>
              <a:sym typeface="Calibri"/>
            </a:endParaRPr>
          </a:p>
          <a:p>
            <a:pPr marL="457200" marR="0" lvl="0" indent="-406400" algn="l" rtl="0">
              <a:spcBef>
                <a:spcPts val="0"/>
              </a:spcBef>
              <a:spcAft>
                <a:spcPts val="0"/>
              </a:spcAft>
              <a:buClr>
                <a:schemeClr val="dk1"/>
              </a:buClr>
              <a:buSzPts val="2800"/>
              <a:buFont typeface="Calibri"/>
              <a:buAutoNum type="arabicPeriod"/>
            </a:pPr>
            <a:r>
              <a:rPr lang="en-US" sz="2800">
                <a:solidFill>
                  <a:schemeClr val="dk1"/>
                </a:solidFill>
                <a:latin typeface="Calibri"/>
                <a:ea typeface="Calibri"/>
                <a:cs typeface="Calibri"/>
                <a:sym typeface="Calibri"/>
              </a:rPr>
              <a:t>What about the future?</a:t>
            </a:r>
            <a:endParaRPr sz="2800">
              <a:solidFill>
                <a:schemeClr val="dk1"/>
              </a:solidFill>
              <a:latin typeface="Calibri"/>
              <a:ea typeface="Calibri"/>
              <a:cs typeface="Calibri"/>
              <a:sym typeface="Calibri"/>
            </a:endParaRPr>
          </a:p>
          <a:p>
            <a:pPr marL="457200" marR="0" lvl="0" indent="-406400" algn="l" rtl="0">
              <a:spcBef>
                <a:spcPts val="0"/>
              </a:spcBef>
              <a:spcAft>
                <a:spcPts val="0"/>
              </a:spcAft>
              <a:buClr>
                <a:schemeClr val="dk1"/>
              </a:buClr>
              <a:buSzPts val="2800"/>
              <a:buFont typeface="Calibri"/>
              <a:buAutoNum type="arabicPeriod"/>
            </a:pPr>
            <a:r>
              <a:rPr lang="en-US" sz="2800">
                <a:solidFill>
                  <a:schemeClr val="dk1"/>
                </a:solidFill>
                <a:latin typeface="Calibri"/>
                <a:ea typeface="Calibri"/>
                <a:cs typeface="Calibri"/>
                <a:sym typeface="Calibri"/>
              </a:rPr>
              <a:t>Discussions</a:t>
            </a:r>
            <a:endParaRPr sz="2800">
              <a:solidFill>
                <a:schemeClr val="dk1"/>
              </a:solidFill>
              <a:latin typeface="Calibri"/>
              <a:ea typeface="Calibri"/>
              <a:cs typeface="Calibri"/>
              <a:sym typeface="Calibri"/>
            </a:endParaRPr>
          </a:p>
          <a:p>
            <a:pPr marL="457200" marR="0" lvl="0" indent="-406400" algn="l" rtl="0">
              <a:spcBef>
                <a:spcPts val="0"/>
              </a:spcBef>
              <a:spcAft>
                <a:spcPts val="0"/>
              </a:spcAft>
              <a:buClr>
                <a:schemeClr val="dk1"/>
              </a:buClr>
              <a:buSzPts val="2800"/>
              <a:buFont typeface="Calibri"/>
              <a:buAutoNum type="arabicPeriod"/>
            </a:pPr>
            <a:r>
              <a:rPr lang="en-US" sz="2800">
                <a:solidFill>
                  <a:schemeClr val="dk1"/>
                </a:solidFill>
                <a:latin typeface="Calibri"/>
                <a:ea typeface="Calibri"/>
                <a:cs typeface="Calibri"/>
                <a:sym typeface="Calibri"/>
              </a:rPr>
              <a:t>nVidia AI and Tobii AR trial/demo</a:t>
            </a:r>
            <a:endParaRPr sz="2800">
              <a:solidFill>
                <a:schemeClr val="dk1"/>
              </a:solidFill>
              <a:latin typeface="Calibri"/>
              <a:ea typeface="Calibri"/>
              <a:cs typeface="Calibri"/>
              <a:sym typeface="Calibri"/>
            </a:endParaRPr>
          </a:p>
        </p:txBody>
      </p:sp>
      <p:sp>
        <p:nvSpPr>
          <p:cNvPr id="114" name="Google Shape;114;p15"/>
          <p:cNvSpPr txBox="1"/>
          <p:nvPr/>
        </p:nvSpPr>
        <p:spPr>
          <a:xfrm>
            <a:off x="1115625" y="764700"/>
            <a:ext cx="7083600" cy="616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sz="3600" b="1">
                <a:solidFill>
                  <a:schemeClr val="dk1"/>
                </a:solidFill>
                <a:latin typeface="Calibri"/>
                <a:ea typeface="Calibri"/>
                <a:cs typeface="Calibri"/>
                <a:sym typeface="Calibri"/>
              </a:rPr>
              <a:t>Content</a:t>
            </a:r>
            <a:endParaRPr sz="3600" b="1">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6"/>
          <p:cNvSpPr txBox="1">
            <a:spLocks noGrp="1"/>
          </p:cNvSpPr>
          <p:nvPr>
            <p:ph type="title"/>
          </p:nvPr>
        </p:nvSpPr>
        <p:spPr>
          <a:xfrm rot="-5400000">
            <a:off x="-3438636" y="3123220"/>
            <a:ext cx="7488832" cy="6115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3959"/>
              <a:buFont typeface="Avenir"/>
              <a:buNone/>
            </a:pPr>
            <a:r>
              <a:rPr lang="en-US" sz="3959">
                <a:latin typeface="Avenir"/>
                <a:ea typeface="Avenir"/>
                <a:cs typeface="Avenir"/>
                <a:sym typeface="Avenir"/>
              </a:rPr>
              <a:t>Terminology</a:t>
            </a:r>
            <a:endParaRPr sz="3959" b="0" i="0" u="none" strike="noStrike" cap="none">
              <a:solidFill>
                <a:schemeClr val="lt1"/>
              </a:solidFill>
              <a:latin typeface="Avenir"/>
              <a:ea typeface="Avenir"/>
              <a:cs typeface="Avenir"/>
              <a:sym typeface="Avenir"/>
            </a:endParaRPr>
          </a:p>
        </p:txBody>
      </p:sp>
      <p:sp>
        <p:nvSpPr>
          <p:cNvPr id="120" name="Google Shape;120;p16"/>
          <p:cNvSpPr/>
          <p:nvPr/>
        </p:nvSpPr>
        <p:spPr>
          <a:xfrm>
            <a:off x="1029675" y="782875"/>
            <a:ext cx="7169700" cy="5826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i="1">
                <a:solidFill>
                  <a:schemeClr val="dk1"/>
                </a:solidFill>
                <a:latin typeface="Calibri"/>
                <a:ea typeface="Calibri"/>
                <a:cs typeface="Calibri"/>
                <a:sym typeface="Calibri"/>
              </a:rPr>
              <a:t>Training data</a:t>
            </a:r>
            <a:endParaRPr sz="2800" b="1" i="1">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History of input </a:t>
            </a:r>
            <a:r>
              <a:rPr lang="en-US" sz="2800" b="1">
                <a:solidFill>
                  <a:schemeClr val="dk1"/>
                </a:solidFill>
                <a:latin typeface="Calibri"/>
                <a:ea typeface="Calibri"/>
                <a:cs typeface="Calibri"/>
                <a:sym typeface="Calibri"/>
              </a:rPr>
              <a:t>X</a:t>
            </a:r>
            <a:r>
              <a:rPr lang="en-US" sz="2800" i="1">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and wanted output </a:t>
            </a:r>
            <a:r>
              <a:rPr lang="en-US" sz="2800" b="1">
                <a:solidFill>
                  <a:schemeClr val="dk1"/>
                </a:solidFill>
                <a:latin typeface="Calibri"/>
                <a:ea typeface="Calibri"/>
                <a:cs typeface="Calibri"/>
                <a:sym typeface="Calibri"/>
              </a:rPr>
              <a:t>Y</a:t>
            </a:r>
            <a:endParaRPr sz="2800" b="1">
              <a:solidFill>
                <a:schemeClr val="dk1"/>
              </a:solidFill>
              <a:latin typeface="Calibri"/>
              <a:ea typeface="Calibri"/>
              <a:cs typeface="Calibri"/>
              <a:sym typeface="Calibri"/>
            </a:endParaRPr>
          </a:p>
          <a:p>
            <a:pPr marL="0" marR="0" lvl="0" indent="0" algn="l" rtl="0">
              <a:spcBef>
                <a:spcPts val="0"/>
              </a:spcBef>
              <a:spcAft>
                <a:spcPts val="0"/>
              </a:spcAft>
              <a:buNone/>
            </a:pPr>
            <a:endParaRPr sz="600" b="1" i="1">
              <a:solidFill>
                <a:schemeClr val="dk1"/>
              </a:solidFill>
              <a:latin typeface="Calibri"/>
              <a:ea typeface="Calibri"/>
              <a:cs typeface="Calibri"/>
              <a:sym typeface="Calibri"/>
            </a:endParaRPr>
          </a:p>
          <a:p>
            <a:pPr marL="0" marR="0" lvl="0" indent="0" algn="l" rtl="0">
              <a:spcBef>
                <a:spcPts val="0"/>
              </a:spcBef>
              <a:spcAft>
                <a:spcPts val="0"/>
              </a:spcAft>
              <a:buNone/>
            </a:pPr>
            <a:r>
              <a:rPr lang="en-US" sz="2800" b="1" i="1">
                <a:solidFill>
                  <a:schemeClr val="dk1"/>
                </a:solidFill>
                <a:latin typeface="Calibri"/>
                <a:ea typeface="Calibri"/>
                <a:cs typeface="Calibri"/>
                <a:sym typeface="Calibri"/>
              </a:rPr>
              <a:t>AI = Artificial Intelligence </a:t>
            </a:r>
            <a:endParaRPr sz="2800" b="1" i="1">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Model the unseen </a:t>
            </a:r>
            <a:r>
              <a:rPr lang="en-US" sz="2800" b="1">
                <a:solidFill>
                  <a:schemeClr val="dk1"/>
                </a:solidFill>
                <a:latin typeface="Calibri"/>
                <a:ea typeface="Calibri"/>
                <a:cs typeface="Calibri"/>
                <a:sym typeface="Calibri"/>
              </a:rPr>
              <a:t>x-y</a:t>
            </a:r>
            <a:r>
              <a:rPr lang="en-US" sz="2800">
                <a:solidFill>
                  <a:schemeClr val="dk1"/>
                </a:solidFill>
                <a:latin typeface="Calibri"/>
                <a:ea typeface="Calibri"/>
                <a:cs typeface="Calibri"/>
                <a:sym typeface="Calibri"/>
              </a:rPr>
              <a:t> from the seen </a:t>
            </a:r>
            <a:r>
              <a:rPr lang="en-US" sz="2800" b="1">
                <a:solidFill>
                  <a:schemeClr val="dk1"/>
                </a:solidFill>
                <a:latin typeface="Calibri"/>
                <a:ea typeface="Calibri"/>
                <a:cs typeface="Calibri"/>
                <a:sym typeface="Calibri"/>
              </a:rPr>
              <a:t>X-Y</a:t>
            </a:r>
            <a:endParaRPr sz="2800" b="1">
              <a:solidFill>
                <a:schemeClr val="dk1"/>
              </a:solidFill>
              <a:latin typeface="Calibri"/>
              <a:ea typeface="Calibri"/>
              <a:cs typeface="Calibri"/>
              <a:sym typeface="Calibri"/>
            </a:endParaRPr>
          </a:p>
          <a:p>
            <a:pPr marL="0" lvl="0" indent="0" algn="l" rtl="0">
              <a:spcBef>
                <a:spcPts val="0"/>
              </a:spcBef>
              <a:spcAft>
                <a:spcPts val="0"/>
              </a:spcAft>
              <a:buNone/>
            </a:pPr>
            <a:r>
              <a:rPr lang="en-US" sz="2800" i="1">
                <a:solidFill>
                  <a:schemeClr val="dk1"/>
                </a:solidFill>
                <a:latin typeface="Calibri"/>
                <a:ea typeface="Calibri"/>
                <a:cs typeface="Calibri"/>
                <a:sym typeface="Calibri"/>
              </a:rPr>
              <a:t>Radial basis</a:t>
            </a:r>
            <a:r>
              <a:rPr lang="en-US" sz="2800">
                <a:solidFill>
                  <a:schemeClr val="dk1"/>
                </a:solidFill>
                <a:latin typeface="Calibri"/>
                <a:ea typeface="Calibri"/>
                <a:cs typeface="Calibri"/>
                <a:sym typeface="Calibri"/>
              </a:rPr>
              <a:t>:		</a:t>
            </a:r>
            <a:r>
              <a:rPr lang="en-US" sz="2800" b="1">
                <a:solidFill>
                  <a:schemeClr val="dk1"/>
                </a:solidFill>
                <a:latin typeface="Calibri"/>
                <a:ea typeface="Calibri"/>
                <a:cs typeface="Calibri"/>
                <a:sym typeface="Calibri"/>
              </a:rPr>
              <a:t>y</a:t>
            </a:r>
            <a:r>
              <a:rPr lang="en-US" sz="2800">
                <a:solidFill>
                  <a:schemeClr val="dk1"/>
                </a:solidFill>
                <a:latin typeface="Calibri"/>
                <a:ea typeface="Calibri"/>
                <a:cs typeface="Calibri"/>
                <a:sym typeface="Calibri"/>
              </a:rPr>
              <a:t> = f(</a:t>
            </a:r>
            <a:r>
              <a:rPr lang="en-US" sz="2800" b="1">
                <a:solidFill>
                  <a:schemeClr val="dk1"/>
                </a:solidFill>
                <a:latin typeface="Calibri"/>
                <a:ea typeface="Calibri"/>
                <a:cs typeface="Calibri"/>
                <a:sym typeface="Calibri"/>
              </a:rPr>
              <a:t>x</a:t>
            </a:r>
            <a:r>
              <a:rPr lang="en-US" sz="2800">
                <a:solidFill>
                  <a:schemeClr val="dk1"/>
                </a:solidFill>
                <a:latin typeface="Calibri"/>
                <a:ea typeface="Calibri"/>
                <a:cs typeface="Calibri"/>
                <a:sym typeface="Calibri"/>
              </a:rPr>
              <a:t> - </a:t>
            </a:r>
            <a:r>
              <a:rPr lang="en-US" sz="2800" b="1">
                <a:solidFill>
                  <a:schemeClr val="dk1"/>
                </a:solidFill>
                <a:latin typeface="Calibri"/>
                <a:ea typeface="Calibri"/>
                <a:cs typeface="Calibri"/>
                <a:sym typeface="Calibri"/>
              </a:rPr>
              <a:t>X</a:t>
            </a:r>
            <a:r>
              <a:rPr lang="en-US" sz="2800">
                <a:solidFill>
                  <a:schemeClr val="dk1"/>
                </a:solidFill>
                <a:latin typeface="Calibri"/>
                <a:ea typeface="Calibri"/>
                <a:cs typeface="Calibri"/>
                <a:sym typeface="Calibri"/>
              </a:rPr>
              <a:t>) </a:t>
            </a:r>
            <a:r>
              <a:rPr lang="en-US" sz="2800" b="1">
                <a:solidFill>
                  <a:schemeClr val="dk1"/>
                </a:solidFill>
                <a:latin typeface="Calibri"/>
                <a:ea typeface="Calibri"/>
                <a:cs typeface="Calibri"/>
                <a:sym typeface="Calibri"/>
              </a:rPr>
              <a:t>Y</a:t>
            </a:r>
            <a:r>
              <a:rPr lang="en-US" sz="2800">
                <a:solidFill>
                  <a:schemeClr val="dk1"/>
                </a:solidFill>
                <a:latin typeface="Calibri"/>
                <a:ea typeface="Calibri"/>
                <a:cs typeface="Calibri"/>
                <a:sym typeface="Calibri"/>
              </a:rPr>
              <a:t> / sum(f(</a:t>
            </a:r>
            <a:r>
              <a:rPr lang="en-US" sz="2800" b="1">
                <a:solidFill>
                  <a:schemeClr val="dk1"/>
                </a:solidFill>
                <a:latin typeface="Calibri"/>
                <a:ea typeface="Calibri"/>
                <a:cs typeface="Calibri"/>
                <a:sym typeface="Calibri"/>
              </a:rPr>
              <a:t>x</a:t>
            </a:r>
            <a:r>
              <a:rPr lang="en-US" sz="2800">
                <a:solidFill>
                  <a:schemeClr val="dk1"/>
                </a:solidFill>
                <a:latin typeface="Calibri"/>
                <a:ea typeface="Calibri"/>
                <a:cs typeface="Calibri"/>
                <a:sym typeface="Calibri"/>
              </a:rPr>
              <a:t> - </a:t>
            </a:r>
            <a:r>
              <a:rPr lang="en-US" sz="2800" b="1">
                <a:solidFill>
                  <a:schemeClr val="dk1"/>
                </a:solidFill>
                <a:latin typeface="Calibri"/>
                <a:ea typeface="Calibri"/>
                <a:cs typeface="Calibri"/>
                <a:sym typeface="Calibri"/>
              </a:rPr>
              <a:t>X</a:t>
            </a:r>
            <a:r>
              <a:rPr lang="en-US" sz="2800">
                <a:solidFill>
                  <a:schemeClr val="dk1"/>
                </a:solidFill>
                <a:latin typeface="Calibri"/>
                <a:ea typeface="Calibri"/>
                <a:cs typeface="Calibri"/>
                <a:sym typeface="Calibri"/>
              </a:rPr>
              <a:t>))</a:t>
            </a:r>
            <a:endParaRPr sz="2800">
              <a:solidFill>
                <a:schemeClr val="dk1"/>
              </a:solidFill>
              <a:latin typeface="Calibri"/>
              <a:ea typeface="Calibri"/>
              <a:cs typeface="Calibri"/>
              <a:sym typeface="Calibri"/>
            </a:endParaRPr>
          </a:p>
          <a:p>
            <a:pPr marL="0" lvl="0" indent="0" algn="l" rtl="0">
              <a:spcBef>
                <a:spcPts val="0"/>
              </a:spcBef>
              <a:spcAft>
                <a:spcPts val="0"/>
              </a:spcAft>
              <a:buNone/>
            </a:pPr>
            <a:r>
              <a:rPr lang="en-US" sz="2800" i="1">
                <a:solidFill>
                  <a:schemeClr val="dk1"/>
                </a:solidFill>
                <a:latin typeface="Calibri"/>
                <a:ea typeface="Calibri"/>
                <a:cs typeface="Calibri"/>
                <a:sym typeface="Calibri"/>
              </a:rPr>
              <a:t>Deep learning</a:t>
            </a:r>
            <a:r>
              <a:rPr lang="en-US" sz="2800">
                <a:solidFill>
                  <a:schemeClr val="dk1"/>
                </a:solidFill>
                <a:latin typeface="Calibri"/>
                <a:ea typeface="Calibri"/>
                <a:cs typeface="Calibri"/>
                <a:sym typeface="Calibri"/>
              </a:rPr>
              <a:t>:	</a:t>
            </a:r>
            <a:r>
              <a:rPr lang="en-US" sz="2800" b="1">
                <a:solidFill>
                  <a:schemeClr val="dk1"/>
                </a:solidFill>
                <a:latin typeface="Calibri"/>
                <a:ea typeface="Calibri"/>
                <a:cs typeface="Calibri"/>
                <a:sym typeface="Calibri"/>
              </a:rPr>
              <a:t>y</a:t>
            </a:r>
            <a:r>
              <a:rPr lang="en-US" sz="2800">
                <a:solidFill>
                  <a:schemeClr val="dk1"/>
                </a:solidFill>
                <a:latin typeface="Calibri"/>
                <a:ea typeface="Calibri"/>
                <a:cs typeface="Calibri"/>
                <a:sym typeface="Calibri"/>
              </a:rPr>
              <a:t> = f(</a:t>
            </a:r>
            <a:r>
              <a:rPr lang="en-US" sz="2400" b="1">
                <a:solidFill>
                  <a:schemeClr val="dk1"/>
                </a:solidFill>
                <a:latin typeface="Calibri"/>
                <a:ea typeface="Calibri"/>
                <a:cs typeface="Calibri"/>
                <a:sym typeface="Calibri"/>
              </a:rPr>
              <a:t>K1 </a:t>
            </a:r>
            <a:r>
              <a:rPr lang="en-US" sz="2400">
                <a:solidFill>
                  <a:schemeClr val="dk1"/>
                </a:solidFill>
                <a:latin typeface="Calibri"/>
                <a:ea typeface="Calibri"/>
                <a:cs typeface="Calibri"/>
                <a:sym typeface="Calibri"/>
              </a:rPr>
              <a:t>f(</a:t>
            </a:r>
            <a:r>
              <a:rPr lang="en-US" sz="2000" b="1">
                <a:solidFill>
                  <a:schemeClr val="dk1"/>
                </a:solidFill>
                <a:latin typeface="Calibri"/>
                <a:ea typeface="Calibri"/>
                <a:cs typeface="Calibri"/>
                <a:sym typeface="Calibri"/>
              </a:rPr>
              <a:t>K2 </a:t>
            </a:r>
            <a:r>
              <a:rPr lang="en-US" sz="2000">
                <a:solidFill>
                  <a:schemeClr val="dk1"/>
                </a:solidFill>
                <a:latin typeface="Calibri"/>
                <a:ea typeface="Calibri"/>
                <a:cs typeface="Calibri"/>
                <a:sym typeface="Calibri"/>
              </a:rPr>
              <a:t>f(</a:t>
            </a:r>
            <a:r>
              <a:rPr lang="en-US" sz="1600" b="1">
                <a:solidFill>
                  <a:schemeClr val="dk1"/>
                </a:solidFill>
                <a:latin typeface="Calibri"/>
                <a:ea typeface="Calibri"/>
                <a:cs typeface="Calibri"/>
                <a:sym typeface="Calibri"/>
              </a:rPr>
              <a:t>K3</a:t>
            </a:r>
            <a:r>
              <a:rPr lang="en-US" sz="1600">
                <a:solidFill>
                  <a:schemeClr val="dk1"/>
                </a:solidFill>
                <a:latin typeface="Calibri"/>
                <a:ea typeface="Calibri"/>
                <a:cs typeface="Calibri"/>
                <a:sym typeface="Calibri"/>
              </a:rPr>
              <a:t> </a:t>
            </a:r>
            <a:r>
              <a:rPr lang="en-US" sz="1600" b="1">
                <a:solidFill>
                  <a:schemeClr val="dk1"/>
                </a:solidFill>
                <a:latin typeface="Calibri"/>
                <a:ea typeface="Calibri"/>
                <a:cs typeface="Calibri"/>
                <a:sym typeface="Calibri"/>
              </a:rPr>
              <a:t>x</a:t>
            </a:r>
            <a:r>
              <a:rPr lang="en-US" sz="1600">
                <a:solidFill>
                  <a:schemeClr val="dk1"/>
                </a:solidFill>
                <a:latin typeface="Calibri"/>
                <a:ea typeface="Calibri"/>
                <a:cs typeface="Calibri"/>
                <a:sym typeface="Calibri"/>
              </a:rPr>
              <a:t> + </a:t>
            </a:r>
            <a:r>
              <a:rPr lang="en-US" sz="1600" b="1">
                <a:solidFill>
                  <a:schemeClr val="dk1"/>
                </a:solidFill>
                <a:latin typeface="Calibri"/>
                <a:ea typeface="Calibri"/>
                <a:cs typeface="Calibri"/>
                <a:sym typeface="Calibri"/>
              </a:rPr>
              <a:t>m3</a:t>
            </a:r>
            <a:r>
              <a:rPr lang="en-US" sz="2000">
                <a:solidFill>
                  <a:schemeClr val="dk1"/>
                </a:solidFill>
                <a:latin typeface="Calibri"/>
                <a:ea typeface="Calibri"/>
                <a:cs typeface="Calibri"/>
                <a:sym typeface="Calibri"/>
              </a:rPr>
              <a:t>) + </a:t>
            </a:r>
            <a:r>
              <a:rPr lang="en-US" sz="2000" b="1">
                <a:solidFill>
                  <a:schemeClr val="dk1"/>
                </a:solidFill>
                <a:latin typeface="Calibri"/>
                <a:ea typeface="Calibri"/>
                <a:cs typeface="Calibri"/>
                <a:sym typeface="Calibri"/>
              </a:rPr>
              <a:t>m2</a:t>
            </a:r>
            <a:r>
              <a:rPr lang="en-US" sz="2400">
                <a:solidFill>
                  <a:schemeClr val="dk1"/>
                </a:solidFill>
                <a:latin typeface="Calibri"/>
                <a:ea typeface="Calibri"/>
                <a:cs typeface="Calibri"/>
                <a:sym typeface="Calibri"/>
              </a:rPr>
              <a:t>) + </a:t>
            </a:r>
            <a:r>
              <a:rPr lang="en-US" sz="2400" b="1">
                <a:solidFill>
                  <a:schemeClr val="dk1"/>
                </a:solidFill>
                <a:latin typeface="Calibri"/>
                <a:ea typeface="Calibri"/>
                <a:cs typeface="Calibri"/>
                <a:sym typeface="Calibri"/>
              </a:rPr>
              <a:t>m1</a:t>
            </a:r>
            <a:r>
              <a:rPr lang="en-US" sz="2800">
                <a:solidFill>
                  <a:schemeClr val="dk1"/>
                </a:solidFill>
                <a:latin typeface="Calibri"/>
                <a:ea typeface="Calibri"/>
                <a:cs typeface="Calibri"/>
                <a:sym typeface="Calibri"/>
              </a:rPr>
              <a:t>)</a:t>
            </a:r>
            <a:endParaRPr sz="2800">
              <a:solidFill>
                <a:schemeClr val="dk1"/>
              </a:solidFill>
              <a:latin typeface="Calibri"/>
              <a:ea typeface="Calibri"/>
              <a:cs typeface="Calibri"/>
              <a:sym typeface="Calibri"/>
            </a:endParaRPr>
          </a:p>
          <a:p>
            <a:pPr marL="0" lvl="0" indent="0" algn="l" rtl="0">
              <a:spcBef>
                <a:spcPts val="0"/>
              </a:spcBef>
              <a:spcAft>
                <a:spcPts val="0"/>
              </a:spcAft>
              <a:buNone/>
            </a:pPr>
            <a:r>
              <a:rPr lang="en-US" sz="2800" i="1">
                <a:solidFill>
                  <a:schemeClr val="dk1"/>
                </a:solidFill>
                <a:latin typeface="Calibri"/>
                <a:ea typeface="Calibri"/>
                <a:cs typeface="Calibri"/>
                <a:sym typeface="Calibri"/>
              </a:rPr>
              <a:t>Recurrent</a:t>
            </a:r>
            <a:r>
              <a:rPr lang="en-US" sz="2800">
                <a:solidFill>
                  <a:schemeClr val="dk1"/>
                </a:solidFill>
                <a:latin typeface="Calibri"/>
                <a:ea typeface="Calibri"/>
                <a:cs typeface="Calibri"/>
                <a:sym typeface="Calibri"/>
              </a:rPr>
              <a:t>:		</a:t>
            </a:r>
            <a:r>
              <a:rPr lang="en-US" sz="2800" b="1">
                <a:solidFill>
                  <a:schemeClr val="dk1"/>
                </a:solidFill>
                <a:latin typeface="Calibri"/>
                <a:ea typeface="Calibri"/>
                <a:cs typeface="Calibri"/>
                <a:sym typeface="Calibri"/>
              </a:rPr>
              <a:t>y</a:t>
            </a:r>
            <a:r>
              <a:rPr lang="en-US" sz="2800">
                <a:solidFill>
                  <a:schemeClr val="dk1"/>
                </a:solidFill>
                <a:latin typeface="Calibri"/>
                <a:ea typeface="Calibri"/>
                <a:cs typeface="Calibri"/>
                <a:sym typeface="Calibri"/>
              </a:rPr>
              <a:t> = f(</a:t>
            </a:r>
            <a:r>
              <a:rPr lang="en-US" sz="2800" b="1">
                <a:solidFill>
                  <a:schemeClr val="dk1"/>
                </a:solidFill>
                <a:latin typeface="Calibri"/>
                <a:ea typeface="Calibri"/>
                <a:cs typeface="Calibri"/>
                <a:sym typeface="Calibri"/>
              </a:rPr>
              <a:t>C</a:t>
            </a:r>
            <a:r>
              <a:rPr lang="en-US" sz="2800">
                <a:solidFill>
                  <a:schemeClr val="dk1"/>
                </a:solidFill>
                <a:latin typeface="Calibri"/>
                <a:ea typeface="Calibri"/>
                <a:cs typeface="Calibri"/>
                <a:sym typeface="Calibri"/>
              </a:rPr>
              <a:t> </a:t>
            </a:r>
            <a:r>
              <a:rPr lang="en-US" sz="2800" b="1">
                <a:solidFill>
                  <a:schemeClr val="dk1"/>
                </a:solidFill>
                <a:latin typeface="Calibri"/>
                <a:ea typeface="Calibri"/>
                <a:cs typeface="Calibri"/>
                <a:sym typeface="Calibri"/>
              </a:rPr>
              <a:t>y</a:t>
            </a:r>
            <a:r>
              <a:rPr lang="en-US" sz="2800">
                <a:solidFill>
                  <a:schemeClr val="dk1"/>
                </a:solidFill>
                <a:latin typeface="Calibri"/>
                <a:ea typeface="Calibri"/>
                <a:cs typeface="Calibri"/>
                <a:sym typeface="Calibri"/>
              </a:rPr>
              <a:t> + </a:t>
            </a:r>
            <a:r>
              <a:rPr lang="en-US" sz="2800" b="1">
                <a:solidFill>
                  <a:schemeClr val="dk1"/>
                </a:solidFill>
                <a:latin typeface="Calibri"/>
                <a:ea typeface="Calibri"/>
                <a:cs typeface="Calibri"/>
                <a:sym typeface="Calibri"/>
              </a:rPr>
              <a:t>K x</a:t>
            </a:r>
            <a:r>
              <a:rPr lang="en-US" sz="2800">
                <a:solidFill>
                  <a:schemeClr val="dk1"/>
                </a:solidFill>
                <a:latin typeface="Calibri"/>
                <a:ea typeface="Calibri"/>
                <a:cs typeface="Calibri"/>
                <a:sym typeface="Calibri"/>
              </a:rPr>
              <a:t> + </a:t>
            </a:r>
            <a:r>
              <a:rPr lang="en-US" sz="2800" b="1">
                <a:solidFill>
                  <a:schemeClr val="dk1"/>
                </a:solidFill>
                <a:latin typeface="Calibri"/>
                <a:ea typeface="Calibri"/>
                <a:cs typeface="Calibri"/>
                <a:sym typeface="Calibri"/>
              </a:rPr>
              <a:t>m</a:t>
            </a:r>
            <a:r>
              <a:rPr lang="en-US" sz="2800">
                <a:solidFill>
                  <a:schemeClr val="dk1"/>
                </a:solidFill>
                <a:latin typeface="Calibri"/>
                <a:ea typeface="Calibri"/>
                <a:cs typeface="Calibri"/>
                <a:sym typeface="Calibri"/>
              </a:rPr>
              <a:t>)</a:t>
            </a:r>
            <a:endParaRPr sz="2800">
              <a:solidFill>
                <a:schemeClr val="dk1"/>
              </a:solidFill>
              <a:latin typeface="Calibri"/>
              <a:ea typeface="Calibri"/>
              <a:cs typeface="Calibri"/>
              <a:sym typeface="Calibri"/>
            </a:endParaRPr>
          </a:p>
          <a:p>
            <a:pPr marL="0" lvl="0" indent="0" algn="l" rtl="0">
              <a:spcBef>
                <a:spcPts val="0"/>
              </a:spcBef>
              <a:spcAft>
                <a:spcPts val="0"/>
              </a:spcAft>
              <a:buClr>
                <a:schemeClr val="dk1"/>
              </a:buClr>
              <a:buFont typeface="Arial"/>
              <a:buNone/>
            </a:pPr>
            <a:r>
              <a:rPr lang="en-US" sz="2800" i="1">
                <a:solidFill>
                  <a:schemeClr val="dk1"/>
                </a:solidFill>
                <a:latin typeface="Calibri"/>
                <a:ea typeface="Calibri"/>
                <a:cs typeface="Calibri"/>
                <a:sym typeface="Calibri"/>
              </a:rPr>
              <a:t>Spiky</a:t>
            </a:r>
            <a:r>
              <a:rPr lang="en-US" sz="2800">
                <a:solidFill>
                  <a:schemeClr val="dk1"/>
                </a:solidFill>
                <a:latin typeface="Calibri"/>
                <a:ea typeface="Calibri"/>
                <a:cs typeface="Calibri"/>
                <a:sym typeface="Calibri"/>
              </a:rPr>
              <a:t>:				</a:t>
            </a:r>
            <a:r>
              <a:rPr lang="en-US" sz="2800" b="1">
                <a:solidFill>
                  <a:schemeClr val="dk1"/>
                </a:solidFill>
                <a:latin typeface="Calibri"/>
                <a:ea typeface="Calibri"/>
                <a:cs typeface="Calibri"/>
                <a:sym typeface="Calibri"/>
              </a:rPr>
              <a:t>y</a:t>
            </a:r>
            <a:r>
              <a:rPr lang="en-US" sz="2800">
                <a:solidFill>
                  <a:schemeClr val="dk1"/>
                </a:solidFill>
                <a:latin typeface="Calibri"/>
                <a:ea typeface="Calibri"/>
                <a:cs typeface="Calibri"/>
                <a:sym typeface="Calibri"/>
              </a:rPr>
              <a:t> = f(</a:t>
            </a:r>
            <a:r>
              <a:rPr lang="en-US" sz="2800" b="1">
                <a:solidFill>
                  <a:schemeClr val="dk1"/>
                </a:solidFill>
                <a:latin typeface="Calibri"/>
                <a:ea typeface="Calibri"/>
                <a:cs typeface="Calibri"/>
                <a:sym typeface="Calibri"/>
              </a:rPr>
              <a:t>C</a:t>
            </a:r>
            <a:r>
              <a:rPr lang="en-US" sz="2800">
                <a:solidFill>
                  <a:schemeClr val="dk1"/>
                </a:solidFill>
                <a:latin typeface="Calibri"/>
                <a:ea typeface="Calibri"/>
                <a:cs typeface="Calibri"/>
                <a:sym typeface="Calibri"/>
              </a:rPr>
              <a:t> </a:t>
            </a:r>
            <a:r>
              <a:rPr lang="en-US" sz="2800" b="1">
                <a:solidFill>
                  <a:schemeClr val="dk1"/>
                </a:solidFill>
                <a:latin typeface="Calibri"/>
                <a:ea typeface="Calibri"/>
                <a:cs typeface="Calibri"/>
                <a:sym typeface="Calibri"/>
              </a:rPr>
              <a:t>y</a:t>
            </a:r>
            <a:r>
              <a:rPr lang="en-US" sz="2800">
                <a:solidFill>
                  <a:schemeClr val="dk1"/>
                </a:solidFill>
                <a:latin typeface="Calibri"/>
                <a:ea typeface="Calibri"/>
                <a:cs typeface="Calibri"/>
                <a:sym typeface="Calibri"/>
              </a:rPr>
              <a:t> + </a:t>
            </a:r>
            <a:r>
              <a:rPr lang="en-US" sz="2800" b="1">
                <a:solidFill>
                  <a:schemeClr val="dk1"/>
                </a:solidFill>
                <a:latin typeface="Calibri"/>
                <a:ea typeface="Calibri"/>
                <a:cs typeface="Calibri"/>
                <a:sym typeface="Calibri"/>
              </a:rPr>
              <a:t>K</a:t>
            </a:r>
            <a:r>
              <a:rPr lang="en-US" sz="2800">
                <a:solidFill>
                  <a:schemeClr val="dk1"/>
                </a:solidFill>
                <a:latin typeface="Calibri"/>
                <a:ea typeface="Calibri"/>
                <a:cs typeface="Calibri"/>
                <a:sym typeface="Calibri"/>
              </a:rPr>
              <a:t> d</a:t>
            </a:r>
            <a:r>
              <a:rPr lang="en-US" sz="2800" b="1">
                <a:solidFill>
                  <a:schemeClr val="dk1"/>
                </a:solidFill>
                <a:latin typeface="Calibri"/>
                <a:ea typeface="Calibri"/>
                <a:cs typeface="Calibri"/>
                <a:sym typeface="Calibri"/>
              </a:rPr>
              <a:t>x</a:t>
            </a:r>
            <a:r>
              <a:rPr lang="en-US" sz="2800">
                <a:solidFill>
                  <a:schemeClr val="dk1"/>
                </a:solidFill>
                <a:latin typeface="Calibri"/>
                <a:ea typeface="Calibri"/>
                <a:cs typeface="Calibri"/>
                <a:sym typeface="Calibri"/>
              </a:rPr>
              <a:t>/dt + </a:t>
            </a:r>
            <a:r>
              <a:rPr lang="en-US" sz="2800" b="1">
                <a:solidFill>
                  <a:schemeClr val="dk1"/>
                </a:solidFill>
                <a:latin typeface="Calibri"/>
                <a:ea typeface="Calibri"/>
                <a:cs typeface="Calibri"/>
                <a:sym typeface="Calibri"/>
              </a:rPr>
              <a:t>m</a:t>
            </a:r>
            <a:r>
              <a:rPr lang="en-US" sz="2800">
                <a:solidFill>
                  <a:schemeClr val="dk1"/>
                </a:solidFill>
                <a:latin typeface="Calibri"/>
                <a:ea typeface="Calibri"/>
                <a:cs typeface="Calibri"/>
                <a:sym typeface="Calibri"/>
              </a:rPr>
              <a:t>)</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endParaRPr sz="600" b="1" i="1">
              <a:solidFill>
                <a:schemeClr val="dk1"/>
              </a:solidFill>
              <a:latin typeface="Calibri"/>
              <a:ea typeface="Calibri"/>
              <a:cs typeface="Calibri"/>
              <a:sym typeface="Calibri"/>
            </a:endParaRPr>
          </a:p>
          <a:p>
            <a:pPr marL="0" marR="0" lvl="0" indent="0" algn="l" rtl="0">
              <a:spcBef>
                <a:spcPts val="0"/>
              </a:spcBef>
              <a:spcAft>
                <a:spcPts val="0"/>
              </a:spcAft>
              <a:buNone/>
            </a:pPr>
            <a:r>
              <a:rPr lang="en-US" sz="2800" b="1" i="1">
                <a:solidFill>
                  <a:schemeClr val="dk1"/>
                </a:solidFill>
                <a:latin typeface="Calibri"/>
                <a:ea typeface="Calibri"/>
                <a:cs typeface="Calibri"/>
                <a:sym typeface="Calibri"/>
              </a:rPr>
              <a:t>AR = Augmented Reality</a:t>
            </a:r>
            <a:endParaRPr sz="2800" b="1" i="1">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Sharpen </a:t>
            </a:r>
            <a:r>
              <a:rPr lang="en-US" sz="2800" b="1">
                <a:solidFill>
                  <a:schemeClr val="dk1"/>
                </a:solidFill>
                <a:latin typeface="Calibri"/>
                <a:ea typeface="Calibri"/>
                <a:cs typeface="Calibri"/>
                <a:sym typeface="Calibri"/>
              </a:rPr>
              <a:t>x</a:t>
            </a:r>
            <a:r>
              <a:rPr lang="en-US" sz="2800">
                <a:solidFill>
                  <a:schemeClr val="dk1"/>
                </a:solidFill>
                <a:latin typeface="Calibri"/>
                <a:ea typeface="Calibri"/>
                <a:cs typeface="Calibri"/>
                <a:sym typeface="Calibri"/>
              </a:rPr>
              <a:t> now by adding </a:t>
            </a:r>
            <a:r>
              <a:rPr lang="en-US" sz="2000">
                <a:solidFill>
                  <a:schemeClr val="dk1"/>
                </a:solidFill>
                <a:latin typeface="Calibri"/>
                <a:ea typeface="Calibri"/>
                <a:cs typeface="Calibri"/>
                <a:sym typeface="Calibri"/>
              </a:rPr>
              <a:t>inv</a:t>
            </a:r>
            <a:r>
              <a:rPr lang="en-US" sz="2800">
                <a:solidFill>
                  <a:schemeClr val="dk1"/>
                </a:solidFill>
                <a:latin typeface="Calibri"/>
                <a:ea typeface="Calibri"/>
                <a:cs typeface="Calibri"/>
                <a:sym typeface="Calibri"/>
              </a:rPr>
              <a:t>f(strongest(</a:t>
            </a:r>
            <a:r>
              <a:rPr lang="en-US" sz="2800" b="1">
                <a:solidFill>
                  <a:schemeClr val="dk1"/>
                </a:solidFill>
                <a:latin typeface="Calibri"/>
                <a:ea typeface="Calibri"/>
                <a:cs typeface="Calibri"/>
                <a:sym typeface="Calibri"/>
              </a:rPr>
              <a:t>y</a:t>
            </a:r>
            <a:r>
              <a:rPr lang="en-US" sz="2800">
                <a:solidFill>
                  <a:schemeClr val="dk1"/>
                </a:solidFill>
                <a:latin typeface="Calibri"/>
                <a:ea typeface="Calibri"/>
                <a:cs typeface="Calibri"/>
                <a:sym typeface="Calibri"/>
              </a:rPr>
              <a:t>))</a:t>
            </a:r>
            <a:endParaRPr sz="2800" i="1">
              <a:solidFill>
                <a:schemeClr val="dk1"/>
              </a:solidFill>
              <a:latin typeface="Calibri"/>
              <a:ea typeface="Calibri"/>
              <a:cs typeface="Calibri"/>
              <a:sym typeface="Calibri"/>
            </a:endParaRPr>
          </a:p>
          <a:p>
            <a:pPr marL="0" lvl="0" indent="0" algn="l" rtl="0">
              <a:spcBef>
                <a:spcPts val="0"/>
              </a:spcBef>
              <a:spcAft>
                <a:spcPts val="0"/>
              </a:spcAft>
              <a:buClr>
                <a:schemeClr val="dk1"/>
              </a:buClr>
              <a:buFont typeface="Arial"/>
              <a:buNone/>
            </a:pPr>
            <a:r>
              <a:rPr lang="en-US" sz="2800" b="1" i="1">
                <a:solidFill>
                  <a:schemeClr val="dk1"/>
                </a:solidFill>
                <a:latin typeface="Calibri"/>
                <a:ea typeface="Calibri"/>
                <a:cs typeface="Calibri"/>
                <a:sym typeface="Calibri"/>
              </a:rPr>
              <a:t>AGR = Artificial General Intelligence </a:t>
            </a:r>
            <a:endParaRPr sz="2800" b="1" i="1">
              <a:solidFill>
                <a:schemeClr val="dk1"/>
              </a:solidFill>
              <a:latin typeface="Calibri"/>
              <a:ea typeface="Calibri"/>
              <a:cs typeface="Calibri"/>
              <a:sym typeface="Calibri"/>
            </a:endParaRPr>
          </a:p>
          <a:p>
            <a:pPr marL="0" lvl="0" indent="0" algn="l" rtl="0">
              <a:spcBef>
                <a:spcPts val="0"/>
              </a:spcBef>
              <a:spcAft>
                <a:spcPts val="0"/>
              </a:spcAft>
              <a:buNone/>
            </a:pPr>
            <a:r>
              <a:rPr lang="en-US" sz="2800">
                <a:solidFill>
                  <a:schemeClr val="dk1"/>
                </a:solidFill>
                <a:latin typeface="Calibri"/>
                <a:ea typeface="Calibri"/>
                <a:cs typeface="Calibri"/>
                <a:sym typeface="Calibri"/>
              </a:rPr>
              <a:t>Model the unseen x-y-ai-ar (possible futures)</a:t>
            </a:r>
            <a:endParaRPr sz="2800">
              <a:solidFill>
                <a:schemeClr val="dk1"/>
              </a:solidFill>
              <a:latin typeface="Calibri"/>
              <a:ea typeface="Calibri"/>
              <a:cs typeface="Calibri"/>
              <a:sym typeface="Calibri"/>
            </a:endParaRPr>
          </a:p>
          <a:p>
            <a:pPr marL="0" lvl="0" indent="0" algn="l" rtl="0">
              <a:spcBef>
                <a:spcPts val="0"/>
              </a:spcBef>
              <a:spcAft>
                <a:spcPts val="0"/>
              </a:spcAft>
              <a:buNone/>
            </a:pPr>
            <a:r>
              <a:rPr lang="en-US" sz="2800">
                <a:solidFill>
                  <a:schemeClr val="dk1"/>
                </a:solidFill>
                <a:latin typeface="Calibri"/>
                <a:ea typeface="Calibri"/>
                <a:cs typeface="Calibri"/>
                <a:sym typeface="Calibri"/>
              </a:rPr>
              <a:t>from the seen X-Y-AI-AR (past experiences)</a:t>
            </a:r>
            <a:endParaRPr sz="1800">
              <a:solidFill>
                <a:schemeClr val="dk1"/>
              </a:solidFill>
              <a:latin typeface="Calibri"/>
              <a:ea typeface="Calibri"/>
              <a:cs typeface="Calibri"/>
              <a:sym typeface="Calibri"/>
            </a:endParaRPr>
          </a:p>
        </p:txBody>
      </p:sp>
      <p:sp>
        <p:nvSpPr>
          <p:cNvPr id="121" name="Google Shape;121;p16"/>
          <p:cNvSpPr txBox="1"/>
          <p:nvPr/>
        </p:nvSpPr>
        <p:spPr>
          <a:xfrm>
            <a:off x="1029675" y="54875"/>
            <a:ext cx="7169700" cy="616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sz="3600" b="1">
                <a:solidFill>
                  <a:schemeClr val="dk1"/>
                </a:solidFill>
                <a:latin typeface="Calibri"/>
                <a:ea typeface="Calibri"/>
                <a:cs typeface="Calibri"/>
                <a:sym typeface="Calibri"/>
              </a:rPr>
              <a:t>What is AI, AR and AGR?</a:t>
            </a:r>
            <a:endParaRPr sz="3600" b="1">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7"/>
          <p:cNvSpPr txBox="1">
            <a:spLocks noGrp="1"/>
          </p:cNvSpPr>
          <p:nvPr>
            <p:ph type="title"/>
          </p:nvPr>
        </p:nvSpPr>
        <p:spPr>
          <a:xfrm rot="-5400000">
            <a:off x="-3438636" y="3123220"/>
            <a:ext cx="7488832" cy="61156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lt1"/>
              </a:buClr>
              <a:buSzPts val="3959"/>
              <a:buFont typeface="Avenir"/>
              <a:buNone/>
            </a:pPr>
            <a:r>
              <a:rPr lang="en-US" sz="3959">
                <a:latin typeface="Avenir"/>
                <a:ea typeface="Avenir"/>
                <a:cs typeface="Avenir"/>
                <a:sym typeface="Avenir"/>
              </a:rPr>
              <a:t>Terminology</a:t>
            </a:r>
            <a:endParaRPr sz="3959"/>
          </a:p>
        </p:txBody>
      </p:sp>
      <p:sp>
        <p:nvSpPr>
          <p:cNvPr id="127" name="Google Shape;127;p17"/>
          <p:cNvSpPr txBox="1">
            <a:spLocks noGrp="1"/>
          </p:cNvSpPr>
          <p:nvPr>
            <p:ph type="body" idx="1"/>
          </p:nvPr>
        </p:nvSpPr>
        <p:spPr>
          <a:xfrm>
            <a:off x="1025100" y="1628800"/>
            <a:ext cx="8118900" cy="452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sz="2800"/>
              <a:t>f(</a:t>
            </a:r>
            <a:r>
              <a:rPr lang="en-US" sz="2800" b="1"/>
              <a:t>x</a:t>
            </a:r>
            <a:r>
              <a:rPr lang="en-US" sz="2800"/>
              <a:t> - </a:t>
            </a:r>
            <a:r>
              <a:rPr lang="en-US" sz="2800" b="1"/>
              <a:t>X</a:t>
            </a:r>
            <a:r>
              <a:rPr lang="en-US" sz="2800"/>
              <a:t>) etc is typically a gaussian function</a:t>
            </a:r>
            <a:endParaRPr sz="2800"/>
          </a:p>
          <a:p>
            <a:pPr marL="0" lvl="0" indent="457200" algn="l" rtl="0">
              <a:spcBef>
                <a:spcPts val="0"/>
              </a:spcBef>
              <a:spcAft>
                <a:spcPts val="0"/>
              </a:spcAft>
              <a:buClr>
                <a:schemeClr val="dk1"/>
              </a:buClr>
              <a:buFont typeface="Arial"/>
              <a:buNone/>
            </a:pPr>
            <a:r>
              <a:rPr lang="en-US" sz="2800" b="1"/>
              <a:t>y</a:t>
            </a:r>
            <a:r>
              <a:rPr lang="en-US" sz="2800"/>
              <a:t> = exp(-k (</a:t>
            </a:r>
            <a:r>
              <a:rPr lang="en-US" sz="2800" b="1"/>
              <a:t>x</a:t>
            </a:r>
            <a:r>
              <a:rPr lang="en-US" sz="2800"/>
              <a:t> - </a:t>
            </a:r>
            <a:r>
              <a:rPr lang="en-US" sz="2800" b="1"/>
              <a:t>X</a:t>
            </a:r>
            <a:r>
              <a:rPr lang="en-US" sz="2800"/>
              <a:t>)</a:t>
            </a:r>
            <a:r>
              <a:rPr lang="en-US" sz="2800" baseline="30000"/>
              <a:t>2</a:t>
            </a:r>
            <a:r>
              <a:rPr lang="en-US" sz="2800"/>
              <a:t>) </a:t>
            </a:r>
            <a:r>
              <a:rPr lang="en-US" sz="2800" b="1"/>
              <a:t>Y</a:t>
            </a:r>
            <a:r>
              <a:rPr lang="en-US" sz="2800"/>
              <a:t> / sum(exp(-k (</a:t>
            </a:r>
            <a:r>
              <a:rPr lang="en-US" sz="2800" b="1"/>
              <a:t>x</a:t>
            </a:r>
            <a:r>
              <a:rPr lang="en-US" sz="2800"/>
              <a:t> - </a:t>
            </a:r>
            <a:r>
              <a:rPr lang="en-US" sz="2800" b="1"/>
              <a:t>X</a:t>
            </a:r>
            <a:r>
              <a:rPr lang="en-US" sz="2800"/>
              <a:t>)</a:t>
            </a:r>
            <a:r>
              <a:rPr lang="en-US" sz="2800" baseline="30000"/>
              <a:t>2</a:t>
            </a:r>
            <a:r>
              <a:rPr lang="en-US" sz="2800"/>
              <a:t>))</a:t>
            </a:r>
            <a:endParaRPr sz="2800"/>
          </a:p>
          <a:p>
            <a:pPr marL="0" lvl="0" indent="0" algn="l" rtl="0">
              <a:spcBef>
                <a:spcPts val="0"/>
              </a:spcBef>
              <a:spcAft>
                <a:spcPts val="0"/>
              </a:spcAft>
              <a:buClr>
                <a:schemeClr val="dk1"/>
              </a:buClr>
              <a:buFont typeface="Arial"/>
              <a:buNone/>
            </a:pPr>
            <a:r>
              <a:rPr lang="en-US" sz="2800"/>
              <a:t>	|</a:t>
            </a:r>
            <a:r>
              <a:rPr lang="en-US" sz="2800" b="1"/>
              <a:t>x</a:t>
            </a:r>
            <a:r>
              <a:rPr lang="en-US" sz="2800"/>
              <a:t> - </a:t>
            </a:r>
            <a:r>
              <a:rPr lang="en-US" sz="2800" b="1"/>
              <a:t>X</a:t>
            </a:r>
            <a:r>
              <a:rPr lang="en-US" sz="2800"/>
              <a:t>| ~    0</a:t>
            </a:r>
            <a:r>
              <a:rPr lang="en-US" sz="2800" b="1"/>
              <a:t> </a:t>
            </a:r>
            <a:r>
              <a:rPr lang="en-US" sz="2800"/>
              <a:t>     → </a:t>
            </a:r>
            <a:r>
              <a:rPr lang="en-US" sz="2800" b="1"/>
              <a:t>y</a:t>
            </a:r>
            <a:r>
              <a:rPr lang="en-US" sz="2800"/>
              <a:t> = average </a:t>
            </a:r>
            <a:r>
              <a:rPr lang="en-US" sz="2800" b="1"/>
              <a:t>Y</a:t>
            </a:r>
            <a:r>
              <a:rPr lang="en-US" sz="2800"/>
              <a:t>		“Confident”</a:t>
            </a:r>
            <a:endParaRPr sz="2800" b="1"/>
          </a:p>
          <a:p>
            <a:pPr marL="0" lvl="0" indent="0" algn="l" rtl="0">
              <a:spcBef>
                <a:spcPts val="0"/>
              </a:spcBef>
              <a:spcAft>
                <a:spcPts val="0"/>
              </a:spcAft>
              <a:buClr>
                <a:schemeClr val="dk1"/>
              </a:buClr>
              <a:buFont typeface="Arial"/>
              <a:buNone/>
            </a:pPr>
            <a:r>
              <a:rPr lang="en-US" sz="2800"/>
              <a:t>	|</a:t>
            </a:r>
            <a:r>
              <a:rPr lang="en-US" sz="2800" b="1"/>
              <a:t>x</a:t>
            </a:r>
            <a:r>
              <a:rPr lang="en-US" sz="2800"/>
              <a:t> - </a:t>
            </a:r>
            <a:r>
              <a:rPr lang="en-US" sz="2800" b="1"/>
              <a:t>X</a:t>
            </a:r>
            <a:r>
              <a:rPr lang="en-US" sz="2800"/>
              <a:t>| &gt;&gt;  1/k</a:t>
            </a:r>
            <a:r>
              <a:rPr lang="en-US" sz="2800" b="1"/>
              <a:t> </a:t>
            </a:r>
            <a:r>
              <a:rPr lang="en-US" sz="2800"/>
              <a:t> → </a:t>
            </a:r>
            <a:r>
              <a:rPr lang="en-US" sz="2800" b="1"/>
              <a:t>y</a:t>
            </a:r>
            <a:r>
              <a:rPr lang="en-US" sz="2800"/>
              <a:t> = nearest </a:t>
            </a:r>
            <a:r>
              <a:rPr lang="en-US" sz="2800" b="1"/>
              <a:t>Y</a:t>
            </a:r>
            <a:r>
              <a:rPr lang="en-US" sz="2800"/>
              <a:t>		“Uncertain”</a:t>
            </a:r>
            <a:endParaRPr sz="2800"/>
          </a:p>
          <a:p>
            <a:pPr marL="0" lvl="0" indent="0" algn="l" rtl="0">
              <a:spcBef>
                <a:spcPts val="0"/>
              </a:spcBef>
              <a:spcAft>
                <a:spcPts val="0"/>
              </a:spcAft>
              <a:buClr>
                <a:schemeClr val="dk1"/>
              </a:buClr>
              <a:buFont typeface="Arial"/>
              <a:buNone/>
            </a:pPr>
            <a:r>
              <a:rPr lang="en-US" sz="2800"/>
              <a:t>f(</a:t>
            </a:r>
            <a:r>
              <a:rPr lang="en-US" sz="2800" b="1"/>
              <a:t>K x</a:t>
            </a:r>
            <a:r>
              <a:rPr lang="en-US" sz="2800"/>
              <a:t> + </a:t>
            </a:r>
            <a:r>
              <a:rPr lang="en-US" sz="2800" b="1"/>
              <a:t>m</a:t>
            </a:r>
            <a:r>
              <a:rPr lang="en-US" sz="2800"/>
              <a:t>) etc is typically a sigmoid function:</a:t>
            </a:r>
            <a:endParaRPr sz="2800"/>
          </a:p>
          <a:p>
            <a:pPr marL="0" lvl="0" indent="457200" algn="l" rtl="0">
              <a:spcBef>
                <a:spcPts val="0"/>
              </a:spcBef>
              <a:spcAft>
                <a:spcPts val="0"/>
              </a:spcAft>
              <a:buClr>
                <a:schemeClr val="dk1"/>
              </a:buClr>
              <a:buFont typeface="Arial"/>
              <a:buNone/>
            </a:pPr>
            <a:r>
              <a:rPr lang="en-US" sz="2800" b="1"/>
              <a:t>K x</a:t>
            </a:r>
            <a:r>
              <a:rPr lang="en-US" sz="2800"/>
              <a:t> + </a:t>
            </a:r>
            <a:r>
              <a:rPr lang="en-US" sz="2800" b="1"/>
              <a:t>m</a:t>
            </a:r>
            <a:r>
              <a:rPr lang="en-US" sz="2800"/>
              <a:t> &lt;&lt; -1 → </a:t>
            </a:r>
            <a:r>
              <a:rPr lang="en-US" sz="2800" b="1"/>
              <a:t>y</a:t>
            </a:r>
            <a:r>
              <a:rPr lang="en-US" sz="2800"/>
              <a:t> = </a:t>
            </a:r>
            <a:r>
              <a:rPr lang="en-US" sz="2800" b="1"/>
              <a:t>0</a:t>
            </a:r>
            <a:r>
              <a:rPr lang="en-US" sz="2800"/>
              <a:t>					“Uninterested”</a:t>
            </a:r>
            <a:endParaRPr sz="2800"/>
          </a:p>
          <a:p>
            <a:pPr marL="0" lvl="0" indent="457200" algn="l" rtl="0">
              <a:spcBef>
                <a:spcPts val="0"/>
              </a:spcBef>
              <a:spcAft>
                <a:spcPts val="0"/>
              </a:spcAft>
              <a:buClr>
                <a:schemeClr val="dk1"/>
              </a:buClr>
              <a:buFont typeface="Arial"/>
              <a:buNone/>
            </a:pPr>
            <a:r>
              <a:rPr lang="en-US" sz="2800" b="1"/>
              <a:t>K x</a:t>
            </a:r>
            <a:r>
              <a:rPr lang="en-US" sz="2800"/>
              <a:t> + </a:t>
            </a:r>
            <a:r>
              <a:rPr lang="en-US" sz="2800" b="1"/>
              <a:t>m</a:t>
            </a:r>
            <a:r>
              <a:rPr lang="en-US" sz="2800"/>
              <a:t> ~   -1 → </a:t>
            </a:r>
            <a:r>
              <a:rPr lang="en-US" sz="2800" b="1"/>
              <a:t>y</a:t>
            </a:r>
            <a:r>
              <a:rPr lang="en-US" sz="2800"/>
              <a:t> ~ exp(</a:t>
            </a:r>
            <a:r>
              <a:rPr lang="en-US" sz="2800" b="1"/>
              <a:t>K x</a:t>
            </a:r>
            <a:r>
              <a:rPr lang="en-US" sz="2800"/>
              <a:t> + </a:t>
            </a:r>
            <a:r>
              <a:rPr lang="en-US" sz="2800" b="1"/>
              <a:t>m</a:t>
            </a:r>
            <a:r>
              <a:rPr lang="en-US" sz="2800"/>
              <a:t>)	“Interested”</a:t>
            </a:r>
            <a:endParaRPr sz="2800"/>
          </a:p>
          <a:p>
            <a:pPr marL="0" lvl="0" indent="457200" algn="l" rtl="0">
              <a:spcBef>
                <a:spcPts val="0"/>
              </a:spcBef>
              <a:spcAft>
                <a:spcPts val="0"/>
              </a:spcAft>
              <a:buClr>
                <a:schemeClr val="dk1"/>
              </a:buClr>
              <a:buFont typeface="Arial"/>
              <a:buNone/>
            </a:pPr>
            <a:r>
              <a:rPr lang="en-US" sz="2800" b="1"/>
              <a:t>K x</a:t>
            </a:r>
            <a:r>
              <a:rPr lang="en-US" sz="2800"/>
              <a:t> + </a:t>
            </a:r>
            <a:r>
              <a:rPr lang="en-US" sz="2800" b="1"/>
              <a:t>m</a:t>
            </a:r>
            <a:r>
              <a:rPr lang="en-US" sz="2800"/>
              <a:t> ~    0 → </a:t>
            </a:r>
            <a:r>
              <a:rPr lang="en-US" sz="2800" b="1"/>
              <a:t>y</a:t>
            </a:r>
            <a:r>
              <a:rPr lang="en-US" sz="2800"/>
              <a:t> ~ </a:t>
            </a:r>
            <a:r>
              <a:rPr lang="en-US" sz="2800" b="1"/>
              <a:t>K x</a:t>
            </a:r>
            <a:r>
              <a:rPr lang="en-US" sz="2800"/>
              <a:t> + </a:t>
            </a:r>
            <a:r>
              <a:rPr lang="en-US" sz="2800" b="1"/>
              <a:t>m</a:t>
            </a:r>
            <a:r>
              <a:rPr lang="en-US" sz="2800"/>
              <a:t>			“Curious”</a:t>
            </a:r>
            <a:endParaRPr sz="2800"/>
          </a:p>
          <a:p>
            <a:pPr marL="0" lvl="0" indent="457200" algn="l" rtl="0">
              <a:spcBef>
                <a:spcPts val="0"/>
              </a:spcBef>
              <a:spcAft>
                <a:spcPts val="0"/>
              </a:spcAft>
              <a:buClr>
                <a:schemeClr val="dk1"/>
              </a:buClr>
              <a:buFont typeface="Arial"/>
              <a:buNone/>
            </a:pPr>
            <a:r>
              <a:rPr lang="en-US" sz="2800" b="1"/>
              <a:t>K x</a:t>
            </a:r>
            <a:r>
              <a:rPr lang="en-US" sz="2800"/>
              <a:t> + </a:t>
            </a:r>
            <a:r>
              <a:rPr lang="en-US" sz="2800" b="1"/>
              <a:t>m</a:t>
            </a:r>
            <a:r>
              <a:rPr lang="en-US" sz="2800"/>
              <a:t> ~  +1 → </a:t>
            </a:r>
            <a:r>
              <a:rPr lang="en-US" sz="2800" b="1"/>
              <a:t>y</a:t>
            </a:r>
            <a:r>
              <a:rPr lang="en-US" sz="2800"/>
              <a:t> ~ log(</a:t>
            </a:r>
            <a:r>
              <a:rPr lang="en-US" sz="2800" b="1"/>
              <a:t>K x</a:t>
            </a:r>
            <a:r>
              <a:rPr lang="en-US" sz="2800"/>
              <a:t> + </a:t>
            </a:r>
            <a:r>
              <a:rPr lang="en-US" sz="2800" b="1"/>
              <a:t>m</a:t>
            </a:r>
            <a:r>
              <a:rPr lang="en-US" sz="2800"/>
              <a:t>)		“Alert”</a:t>
            </a:r>
            <a:endParaRPr sz="2800"/>
          </a:p>
          <a:p>
            <a:pPr marL="0" lvl="0" indent="457200" algn="l" rtl="0">
              <a:spcBef>
                <a:spcPts val="0"/>
              </a:spcBef>
              <a:spcAft>
                <a:spcPts val="0"/>
              </a:spcAft>
              <a:buClr>
                <a:schemeClr val="dk1"/>
              </a:buClr>
              <a:buFont typeface="Arial"/>
              <a:buNone/>
            </a:pPr>
            <a:r>
              <a:rPr lang="en-US" sz="2800" b="1"/>
              <a:t>K x</a:t>
            </a:r>
            <a:r>
              <a:rPr lang="en-US" sz="2800"/>
              <a:t> + </a:t>
            </a:r>
            <a:r>
              <a:rPr lang="en-US" sz="2800" b="1"/>
              <a:t>m</a:t>
            </a:r>
            <a:r>
              <a:rPr lang="en-US" sz="2800"/>
              <a:t> &gt;&gt;+1 → </a:t>
            </a:r>
            <a:r>
              <a:rPr lang="en-US" sz="2800" b="1"/>
              <a:t>y</a:t>
            </a:r>
            <a:r>
              <a:rPr lang="en-US" sz="2800"/>
              <a:t> = </a:t>
            </a:r>
            <a:r>
              <a:rPr lang="en-US" sz="2800" b="1"/>
              <a:t>1</a:t>
            </a:r>
            <a:r>
              <a:rPr lang="en-US" sz="2800"/>
              <a:t>					“Hooked”</a:t>
            </a:r>
            <a:endParaRPr sz="2800"/>
          </a:p>
        </p:txBody>
      </p:sp>
      <p:sp>
        <p:nvSpPr>
          <p:cNvPr id="128" name="Google Shape;128;p17"/>
          <p:cNvSpPr txBox="1"/>
          <p:nvPr/>
        </p:nvSpPr>
        <p:spPr>
          <a:xfrm>
            <a:off x="1025100" y="764700"/>
            <a:ext cx="7976100" cy="616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3600" b="1">
                <a:solidFill>
                  <a:schemeClr val="dk1"/>
                </a:solidFill>
                <a:latin typeface="Calibri"/>
                <a:ea typeface="Calibri"/>
                <a:cs typeface="Calibri"/>
                <a:sym typeface="Calibri"/>
              </a:rPr>
              <a:t>What makes an AI work?</a:t>
            </a:r>
            <a:br>
              <a:rPr lang="en-US" sz="3600" b="1">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8"/>
          <p:cNvSpPr txBox="1">
            <a:spLocks noGrp="1"/>
          </p:cNvSpPr>
          <p:nvPr>
            <p:ph type="title"/>
          </p:nvPr>
        </p:nvSpPr>
        <p:spPr>
          <a:xfrm rot="-5400000">
            <a:off x="-3438600" y="3123116"/>
            <a:ext cx="7488900" cy="6117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sz="3959">
                <a:latin typeface="Avenir"/>
                <a:ea typeface="Avenir"/>
                <a:cs typeface="Avenir"/>
                <a:sym typeface="Avenir"/>
              </a:rPr>
              <a:t>Training</a:t>
            </a:r>
            <a:endParaRPr/>
          </a:p>
        </p:txBody>
      </p:sp>
      <p:sp>
        <p:nvSpPr>
          <p:cNvPr id="135" name="Google Shape;135;p18"/>
          <p:cNvSpPr txBox="1">
            <a:spLocks noGrp="1"/>
          </p:cNvSpPr>
          <p:nvPr>
            <p:ph type="body" idx="1"/>
          </p:nvPr>
        </p:nvSpPr>
        <p:spPr>
          <a:xfrm>
            <a:off x="1010250" y="1628800"/>
            <a:ext cx="8133600" cy="452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2400"/>
              <a:t>Training (of </a:t>
            </a:r>
            <a:r>
              <a:rPr lang="en-US" sz="2400" b="1"/>
              <a:t>K </a:t>
            </a:r>
            <a:r>
              <a:rPr lang="en-US" sz="2400"/>
              <a:t>and </a:t>
            </a:r>
            <a:r>
              <a:rPr lang="en-US" sz="2400" b="1"/>
              <a:t>m</a:t>
            </a:r>
            <a:r>
              <a:rPr lang="en-US" sz="2400"/>
              <a:t> etc) was very difficult due many AI options, nonlinear algebra, and large </a:t>
            </a:r>
            <a:r>
              <a:rPr lang="en-US" sz="2400" b="1"/>
              <a:t>X</a:t>
            </a:r>
            <a:r>
              <a:rPr lang="en-US" sz="2400"/>
              <a:t>, </a:t>
            </a:r>
            <a:r>
              <a:rPr lang="en-US" sz="2400" b="1"/>
              <a:t>Y</a:t>
            </a:r>
            <a:r>
              <a:rPr lang="en-US" sz="2400"/>
              <a:t>, </a:t>
            </a:r>
            <a:r>
              <a:rPr lang="en-US" sz="2400" b="1"/>
              <a:t>K </a:t>
            </a:r>
            <a:r>
              <a:rPr lang="en-US" sz="2400"/>
              <a:t>and </a:t>
            </a:r>
            <a:r>
              <a:rPr lang="en-US" sz="2400" b="1"/>
              <a:t>m</a:t>
            </a:r>
            <a:r>
              <a:rPr lang="en-US" sz="2400"/>
              <a:t> etc. </a:t>
            </a:r>
            <a:endParaRPr sz="2400"/>
          </a:p>
          <a:p>
            <a:pPr marL="457200" lvl="0" indent="-381000" algn="l" rtl="0">
              <a:spcBef>
                <a:spcPts val="0"/>
              </a:spcBef>
              <a:spcAft>
                <a:spcPts val="0"/>
              </a:spcAft>
              <a:buSzPts val="2400"/>
              <a:buChar char="•"/>
            </a:pPr>
            <a:r>
              <a:rPr lang="en-US" sz="2400"/>
              <a:t>With new deep learning tools it is easy - but even more compute intense.</a:t>
            </a:r>
            <a:endParaRPr sz="2400"/>
          </a:p>
          <a:p>
            <a:pPr marL="0" lvl="0" indent="0" algn="l" rtl="0">
              <a:spcBef>
                <a:spcPts val="0"/>
              </a:spcBef>
              <a:spcAft>
                <a:spcPts val="0"/>
              </a:spcAft>
              <a:buNone/>
            </a:pPr>
            <a:r>
              <a:rPr lang="en-US" sz="2400"/>
              <a:t>These computations were very time-consuming due to lack of parallelism. </a:t>
            </a:r>
            <a:endParaRPr sz="2400"/>
          </a:p>
          <a:p>
            <a:pPr marL="457200" lvl="0" indent="-381000" algn="l" rtl="0">
              <a:spcBef>
                <a:spcPts val="0"/>
              </a:spcBef>
              <a:spcAft>
                <a:spcPts val="0"/>
              </a:spcAft>
              <a:buSzPts val="2400"/>
              <a:buChar char="•"/>
            </a:pPr>
            <a:r>
              <a:rPr lang="en-US" sz="2400"/>
              <a:t>With modern gaming GPUs it way much faster - but still a bottle-neck.</a:t>
            </a:r>
            <a:endParaRPr sz="2400"/>
          </a:p>
          <a:p>
            <a:pPr marL="0" lvl="0" indent="0" algn="l" rtl="0">
              <a:spcBef>
                <a:spcPts val="0"/>
              </a:spcBef>
              <a:spcAft>
                <a:spcPts val="0"/>
              </a:spcAft>
              <a:buNone/>
            </a:pPr>
            <a:r>
              <a:rPr lang="en-US" sz="2400"/>
              <a:t>The amount of training data needed for robust AI is very large, and such data did not exist. </a:t>
            </a:r>
            <a:endParaRPr sz="2400"/>
          </a:p>
          <a:p>
            <a:pPr marL="457200" lvl="0" indent="-381000" algn="l" rtl="0">
              <a:spcBef>
                <a:spcPts val="0"/>
              </a:spcBef>
              <a:spcAft>
                <a:spcPts val="0"/>
              </a:spcAft>
              <a:buSzPts val="2400"/>
              <a:buChar char="•"/>
            </a:pPr>
            <a:r>
              <a:rPr lang="en-US" sz="2400"/>
              <a:t>Google now has trained AIs for free/ads and for pay-per-use!</a:t>
            </a:r>
            <a:endParaRPr sz="2400"/>
          </a:p>
          <a:p>
            <a:pPr marL="457200" lvl="0" indent="-381000" algn="l" rtl="0">
              <a:spcBef>
                <a:spcPts val="0"/>
              </a:spcBef>
              <a:spcAft>
                <a:spcPts val="0"/>
              </a:spcAft>
              <a:buSzPts val="2400"/>
              <a:buChar char="•"/>
            </a:pPr>
            <a:r>
              <a:rPr lang="en-US" sz="2400"/>
              <a:t>nVIDIA now support virtual </a:t>
            </a:r>
            <a:br>
              <a:rPr lang="en-US" sz="2400"/>
            </a:br>
            <a:r>
              <a:rPr lang="en-US" sz="2400"/>
              <a:t>3D playgrounds in their AI tools</a:t>
            </a:r>
            <a:br>
              <a:rPr lang="en-US" sz="2400"/>
            </a:br>
            <a:r>
              <a:rPr lang="en-US" sz="2400"/>
              <a:t>- data is auto-generated fast!</a:t>
            </a:r>
            <a:endParaRPr sz="2400"/>
          </a:p>
        </p:txBody>
      </p:sp>
      <p:sp>
        <p:nvSpPr>
          <p:cNvPr id="136" name="Google Shape;136;p18"/>
          <p:cNvSpPr txBox="1"/>
          <p:nvPr/>
        </p:nvSpPr>
        <p:spPr>
          <a:xfrm>
            <a:off x="1010250" y="764700"/>
            <a:ext cx="7188900" cy="616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sz="3600" b="1">
                <a:solidFill>
                  <a:schemeClr val="dk1"/>
                </a:solidFill>
                <a:latin typeface="Calibri"/>
                <a:ea typeface="Calibri"/>
                <a:cs typeface="Calibri"/>
                <a:sym typeface="Calibri"/>
              </a:rPr>
              <a:t>What was the problem?</a:t>
            </a:r>
            <a:endParaRPr sz="3600" b="1">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9"/>
          <p:cNvSpPr txBox="1">
            <a:spLocks noGrp="1"/>
          </p:cNvSpPr>
          <p:nvPr>
            <p:ph type="title"/>
          </p:nvPr>
        </p:nvSpPr>
        <p:spPr>
          <a:xfrm rot="-5400000">
            <a:off x="-3438600" y="3123116"/>
            <a:ext cx="7488900" cy="6117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sz="3959">
                <a:latin typeface="Avenir"/>
                <a:ea typeface="Avenir"/>
                <a:cs typeface="Avenir"/>
                <a:sym typeface="Avenir"/>
              </a:rPr>
              <a:t>Tools</a:t>
            </a:r>
            <a:endParaRPr/>
          </a:p>
        </p:txBody>
      </p:sp>
      <p:sp>
        <p:nvSpPr>
          <p:cNvPr id="143" name="Google Shape;143;p19"/>
          <p:cNvSpPr txBox="1">
            <a:spLocks noGrp="1"/>
          </p:cNvSpPr>
          <p:nvPr>
            <p:ph type="body" idx="1"/>
          </p:nvPr>
        </p:nvSpPr>
        <p:spPr>
          <a:xfrm>
            <a:off x="1010250" y="1628800"/>
            <a:ext cx="8256900" cy="452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2400" dirty="0"/>
              <a:t>Basic:</a:t>
            </a:r>
            <a:endParaRPr sz="2400" dirty="0"/>
          </a:p>
          <a:p>
            <a:pPr marL="457200" lvl="0" indent="-381000" algn="l" rtl="0">
              <a:spcBef>
                <a:spcPts val="0"/>
              </a:spcBef>
              <a:spcAft>
                <a:spcPts val="0"/>
              </a:spcAft>
              <a:buSzPts val="2400"/>
              <a:buChar char="•"/>
            </a:pPr>
            <a:r>
              <a:rPr lang="en-US" sz="2400" dirty="0"/>
              <a:t>Your kids gaming PCs</a:t>
            </a:r>
            <a:endParaRPr sz="2400" dirty="0"/>
          </a:p>
          <a:p>
            <a:pPr marL="457200" lvl="0" indent="-381000" algn="l" rtl="0">
              <a:spcBef>
                <a:spcPts val="0"/>
              </a:spcBef>
              <a:spcAft>
                <a:spcPts val="0"/>
              </a:spcAft>
              <a:buSzPts val="2400"/>
              <a:buChar char="•"/>
            </a:pPr>
            <a:r>
              <a:rPr lang="en-US" sz="2400" dirty="0"/>
              <a:t>pytorch.org</a:t>
            </a:r>
            <a:endParaRPr sz="2400" dirty="0"/>
          </a:p>
          <a:p>
            <a:pPr marL="0" lvl="0" indent="0" algn="l" rtl="0">
              <a:spcBef>
                <a:spcPts val="0"/>
              </a:spcBef>
              <a:spcAft>
                <a:spcPts val="0"/>
              </a:spcAft>
              <a:buNone/>
            </a:pPr>
            <a:endParaRPr sz="2400" dirty="0"/>
          </a:p>
          <a:p>
            <a:pPr marL="0" lvl="0" indent="0" algn="l" rtl="0">
              <a:spcBef>
                <a:spcPts val="0"/>
              </a:spcBef>
              <a:spcAft>
                <a:spcPts val="0"/>
              </a:spcAft>
              <a:buNone/>
            </a:pPr>
            <a:r>
              <a:rPr lang="en-US" sz="2400" dirty="0"/>
              <a:t>Professional:</a:t>
            </a:r>
            <a:endParaRPr sz="2400" dirty="0"/>
          </a:p>
          <a:p>
            <a:pPr marL="457200" lvl="0" indent="-342900" algn="l" rtl="0">
              <a:spcBef>
                <a:spcPts val="0"/>
              </a:spcBef>
              <a:spcAft>
                <a:spcPts val="0"/>
              </a:spcAft>
              <a:buSzPts val="1800"/>
              <a:buChar char="•"/>
            </a:pPr>
            <a:r>
              <a:rPr lang="en-US" sz="1800" dirty="0"/>
              <a:t>www.defaultlogic.com/learn?s=List_of_datasets_for_machine_learning_research</a:t>
            </a:r>
            <a:endParaRPr sz="1800" dirty="0"/>
          </a:p>
          <a:p>
            <a:pPr marL="457200" lvl="0" indent="-381000" algn="l" rtl="0">
              <a:spcBef>
                <a:spcPts val="0"/>
              </a:spcBef>
              <a:spcAft>
                <a:spcPts val="0"/>
              </a:spcAft>
              <a:buSzPts val="2400"/>
              <a:buChar char="•"/>
            </a:pPr>
            <a:r>
              <a:rPr lang="en-US" sz="2400" dirty="0" err="1"/>
              <a:t>nVidia</a:t>
            </a:r>
            <a:r>
              <a:rPr lang="en-US" sz="2400" dirty="0"/>
              <a:t> Jetson AI module</a:t>
            </a:r>
            <a:endParaRPr sz="2400" dirty="0"/>
          </a:p>
          <a:p>
            <a:pPr marL="457200" lvl="0" indent="-381000" algn="l" rtl="0">
              <a:spcBef>
                <a:spcPts val="0"/>
              </a:spcBef>
              <a:spcAft>
                <a:spcPts val="0"/>
              </a:spcAft>
              <a:buSzPts val="2400"/>
              <a:buChar char="•"/>
            </a:pPr>
            <a:r>
              <a:rPr lang="en-US" sz="2400" dirty="0"/>
              <a:t>Intel-based CAE or gaming workstation</a:t>
            </a:r>
            <a:endParaRPr sz="2400" dirty="0"/>
          </a:p>
          <a:p>
            <a:pPr marL="457200" lvl="0" indent="-381000" algn="l" rtl="0">
              <a:spcBef>
                <a:spcPts val="0"/>
              </a:spcBef>
              <a:spcAft>
                <a:spcPts val="0"/>
              </a:spcAft>
              <a:buSzPts val="2400"/>
              <a:buChar char="•"/>
            </a:pPr>
            <a:r>
              <a:rPr lang="en-US" sz="2400" dirty="0" err="1"/>
              <a:t>nVidia</a:t>
            </a:r>
            <a:r>
              <a:rPr lang="en-US" sz="2400" dirty="0"/>
              <a:t> GPU with at least CUDA 7.5 support</a:t>
            </a:r>
            <a:endParaRPr sz="2400" dirty="0"/>
          </a:p>
          <a:p>
            <a:pPr marL="457200" lvl="0" indent="-381000" algn="l" rtl="0">
              <a:spcBef>
                <a:spcPts val="0"/>
              </a:spcBef>
              <a:spcAft>
                <a:spcPts val="0"/>
              </a:spcAft>
              <a:buSzPts val="2400"/>
              <a:buChar char="•"/>
            </a:pPr>
            <a:r>
              <a:rPr lang="en-US" sz="2400" dirty="0"/>
              <a:t>Ubuntu 16 or 18 on an </a:t>
            </a:r>
            <a:r>
              <a:rPr lang="en-US" sz="2400" dirty="0" err="1"/>
              <a:t>NVMe</a:t>
            </a:r>
            <a:r>
              <a:rPr lang="en-US" sz="2400" dirty="0"/>
              <a:t> flash drive</a:t>
            </a:r>
            <a:endParaRPr sz="2400" dirty="0"/>
          </a:p>
          <a:p>
            <a:pPr marL="457200" lvl="0" indent="-381000" algn="l" rtl="0">
              <a:spcBef>
                <a:spcPts val="0"/>
              </a:spcBef>
              <a:spcAft>
                <a:spcPts val="0"/>
              </a:spcAft>
              <a:buSzPts val="2400"/>
              <a:buChar char="•"/>
            </a:pPr>
            <a:r>
              <a:rPr lang="en-US" sz="2400" dirty="0"/>
              <a:t>Commercial AI software and services listed at https://www.g2crowd.com/categories/artificial-intelligence</a:t>
            </a:r>
            <a:endParaRPr sz="2400" dirty="0"/>
          </a:p>
          <a:p>
            <a:pPr marL="457200" lvl="0" indent="-381000" algn="l" rtl="0">
              <a:spcBef>
                <a:spcPts val="0"/>
              </a:spcBef>
              <a:spcAft>
                <a:spcPts val="0"/>
              </a:spcAft>
              <a:buSzPts val="2400"/>
              <a:buChar char="•"/>
            </a:pPr>
            <a:r>
              <a:rPr lang="en-US" sz="2400" dirty="0"/>
              <a:t>When stuck or created something: </a:t>
            </a:r>
            <a:br>
              <a:rPr lang="en-US" sz="2400" dirty="0"/>
            </a:br>
            <a:r>
              <a:rPr lang="en-US" sz="2400" dirty="0"/>
              <a:t>Awesome - contact me!</a:t>
            </a:r>
            <a:endParaRPr sz="2400" dirty="0"/>
          </a:p>
        </p:txBody>
      </p:sp>
      <p:sp>
        <p:nvSpPr>
          <p:cNvPr id="144" name="Google Shape;144;p19"/>
          <p:cNvSpPr txBox="1"/>
          <p:nvPr/>
        </p:nvSpPr>
        <p:spPr>
          <a:xfrm>
            <a:off x="1010250" y="764700"/>
            <a:ext cx="7188900" cy="616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sz="3600" b="1">
                <a:solidFill>
                  <a:schemeClr val="dk1"/>
                </a:solidFill>
                <a:latin typeface="Calibri"/>
                <a:ea typeface="Calibri"/>
                <a:cs typeface="Calibri"/>
                <a:sym typeface="Calibri"/>
              </a:rPr>
              <a:t>Where to start?</a:t>
            </a:r>
            <a:endParaRPr sz="3600" b="1">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0"/>
          <p:cNvSpPr txBox="1">
            <a:spLocks noGrp="1"/>
          </p:cNvSpPr>
          <p:nvPr>
            <p:ph type="title"/>
          </p:nvPr>
        </p:nvSpPr>
        <p:spPr>
          <a:xfrm rot="-5400000">
            <a:off x="-3438600" y="3123116"/>
            <a:ext cx="7488900" cy="6117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sz="3959">
                <a:latin typeface="Avenir"/>
                <a:ea typeface="Avenir"/>
                <a:cs typeface="Avenir"/>
                <a:sym typeface="Avenir"/>
              </a:rPr>
              <a:t>Thank you for participating!</a:t>
            </a:r>
            <a:endParaRPr/>
          </a:p>
        </p:txBody>
      </p:sp>
      <p:sp>
        <p:nvSpPr>
          <p:cNvPr id="151" name="Google Shape;151;p20"/>
          <p:cNvSpPr txBox="1">
            <a:spLocks noGrp="1"/>
          </p:cNvSpPr>
          <p:nvPr>
            <p:ph type="body" idx="1"/>
          </p:nvPr>
        </p:nvSpPr>
        <p:spPr>
          <a:xfrm>
            <a:off x="1010250" y="1628800"/>
            <a:ext cx="8133600" cy="452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2800"/>
              <a:t>Human intelligence makes optimal use of the brain at every stage of learning. To do this with AI: Keep pruning (removing zeros) and adding new layers (adding randomness on top) in an endless training loop. Fill the GPU with the new layers after every pruning step - this makes most use of the HW all the time. There is no tool yet for this - time to innovate!</a:t>
            </a:r>
            <a:endParaRPr sz="2800"/>
          </a:p>
          <a:p>
            <a:pPr marL="0" lvl="0" indent="0" algn="l" rtl="0">
              <a:spcBef>
                <a:spcPts val="0"/>
              </a:spcBef>
              <a:spcAft>
                <a:spcPts val="0"/>
              </a:spcAft>
              <a:buNone/>
            </a:pPr>
            <a:endParaRPr sz="2800"/>
          </a:p>
          <a:p>
            <a:pPr marL="0" lvl="0" indent="0" algn="l" rtl="0">
              <a:spcBef>
                <a:spcPts val="0"/>
              </a:spcBef>
              <a:spcAft>
                <a:spcPts val="0"/>
              </a:spcAft>
              <a:buNone/>
            </a:pPr>
            <a:r>
              <a:rPr lang="en-US" sz="2800"/>
              <a:t>Discussions</a:t>
            </a:r>
            <a:endParaRPr sz="2800"/>
          </a:p>
          <a:p>
            <a:pPr marL="0" lvl="0" indent="0" algn="l" rtl="0">
              <a:spcBef>
                <a:spcPts val="0"/>
              </a:spcBef>
              <a:spcAft>
                <a:spcPts val="0"/>
              </a:spcAft>
              <a:buNone/>
            </a:pPr>
            <a:endParaRPr sz="2800"/>
          </a:p>
          <a:p>
            <a:pPr marL="0" lvl="0" indent="0" algn="l" rtl="0">
              <a:spcBef>
                <a:spcPts val="0"/>
              </a:spcBef>
              <a:spcAft>
                <a:spcPts val="0"/>
              </a:spcAft>
              <a:buNone/>
            </a:pPr>
            <a:r>
              <a:rPr lang="en-US" sz="2800"/>
              <a:t>Questions</a:t>
            </a:r>
            <a:endParaRPr sz="2800"/>
          </a:p>
          <a:p>
            <a:pPr marL="0" lvl="0" indent="0" algn="l" rtl="0">
              <a:spcBef>
                <a:spcPts val="0"/>
              </a:spcBef>
              <a:spcAft>
                <a:spcPts val="0"/>
              </a:spcAft>
              <a:buNone/>
            </a:pPr>
            <a:endParaRPr sz="2800"/>
          </a:p>
        </p:txBody>
      </p:sp>
      <p:sp>
        <p:nvSpPr>
          <p:cNvPr id="152" name="Google Shape;152;p20"/>
          <p:cNvSpPr txBox="1"/>
          <p:nvPr/>
        </p:nvSpPr>
        <p:spPr>
          <a:xfrm>
            <a:off x="1010250" y="764700"/>
            <a:ext cx="7188900" cy="616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sz="3600" b="1">
                <a:solidFill>
                  <a:schemeClr val="dk1"/>
                </a:solidFill>
                <a:latin typeface="Calibri"/>
                <a:ea typeface="Calibri"/>
                <a:cs typeface="Calibri"/>
                <a:sym typeface="Calibri"/>
              </a:rPr>
              <a:t>What about the future?</a:t>
            </a:r>
            <a:endParaRPr sz="3600" b="1">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1"/>
          <p:cNvSpPr txBox="1">
            <a:spLocks noGrp="1"/>
          </p:cNvSpPr>
          <p:nvPr>
            <p:ph type="title"/>
          </p:nvPr>
        </p:nvSpPr>
        <p:spPr>
          <a:xfrm rot="-5400000">
            <a:off x="-3438600" y="3123116"/>
            <a:ext cx="7488900" cy="6117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sz="3959">
                <a:latin typeface="Avenir"/>
                <a:ea typeface="Avenir"/>
                <a:cs typeface="Avenir"/>
                <a:sym typeface="Avenir"/>
              </a:rPr>
              <a:t>Demo</a:t>
            </a:r>
            <a:endParaRPr/>
          </a:p>
        </p:txBody>
      </p:sp>
      <p:sp>
        <p:nvSpPr>
          <p:cNvPr id="159" name="Google Shape;159;p21"/>
          <p:cNvSpPr txBox="1">
            <a:spLocks noGrp="1"/>
          </p:cNvSpPr>
          <p:nvPr>
            <p:ph type="body" idx="1"/>
          </p:nvPr>
        </p:nvSpPr>
        <p:spPr>
          <a:xfrm>
            <a:off x="1010250" y="1628800"/>
            <a:ext cx="8133600" cy="452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2800"/>
              <a:t>Demo, trial, hands-on</a:t>
            </a:r>
            <a:endParaRPr sz="2800"/>
          </a:p>
          <a:p>
            <a:pPr marL="0" lvl="0" indent="0" algn="l" rtl="0">
              <a:spcBef>
                <a:spcPts val="0"/>
              </a:spcBef>
              <a:spcAft>
                <a:spcPts val="0"/>
              </a:spcAft>
              <a:buNone/>
            </a:pPr>
            <a:r>
              <a:rPr lang="en-US" sz="2800"/>
              <a:t>Feedback</a:t>
            </a:r>
            <a:endParaRPr sz="2800"/>
          </a:p>
          <a:p>
            <a:pPr marL="0" lvl="0" indent="0" algn="l" rtl="0">
              <a:spcBef>
                <a:spcPts val="0"/>
              </a:spcBef>
              <a:spcAft>
                <a:spcPts val="0"/>
              </a:spcAft>
              <a:buNone/>
            </a:pPr>
            <a:endParaRPr sz="2800"/>
          </a:p>
          <a:p>
            <a:pPr marL="0" lvl="0" indent="0" algn="l" rtl="0">
              <a:spcBef>
                <a:spcPts val="0"/>
              </a:spcBef>
              <a:spcAft>
                <a:spcPts val="0"/>
              </a:spcAft>
              <a:buNone/>
            </a:pPr>
            <a:endParaRPr sz="2800"/>
          </a:p>
          <a:p>
            <a:pPr marL="0" lvl="0" indent="0" algn="l" rtl="0">
              <a:spcBef>
                <a:spcPts val="0"/>
              </a:spcBef>
              <a:spcAft>
                <a:spcPts val="0"/>
              </a:spcAft>
              <a:buNone/>
            </a:pPr>
            <a:endParaRPr sz="2800"/>
          </a:p>
          <a:p>
            <a:pPr marL="0" lvl="0" indent="0" algn="l" rtl="0">
              <a:spcBef>
                <a:spcPts val="0"/>
              </a:spcBef>
              <a:spcAft>
                <a:spcPts val="0"/>
              </a:spcAft>
              <a:buNone/>
            </a:pPr>
            <a:endParaRPr sz="2800"/>
          </a:p>
          <a:p>
            <a:pPr marL="0" lvl="0" indent="0" algn="l" rtl="0">
              <a:spcBef>
                <a:spcPts val="0"/>
              </a:spcBef>
              <a:spcAft>
                <a:spcPts val="0"/>
              </a:spcAft>
              <a:buNone/>
            </a:pPr>
            <a:r>
              <a:rPr lang="en-US" sz="2800"/>
              <a:t>Recommended read:</a:t>
            </a:r>
            <a:endParaRPr sz="2800"/>
          </a:p>
          <a:p>
            <a:pPr marL="0" lvl="0" indent="0" algn="l" rtl="0">
              <a:spcBef>
                <a:spcPts val="0"/>
              </a:spcBef>
              <a:spcAft>
                <a:spcPts val="0"/>
              </a:spcAft>
              <a:buNone/>
            </a:pPr>
            <a:r>
              <a:rPr lang="en-US" sz="2800" u="sng">
                <a:solidFill>
                  <a:schemeClr val="hlink"/>
                </a:solidFill>
                <a:hlinkClick r:id="rId3"/>
              </a:rPr>
              <a:t>https://distill.pub/2018/building-blocks/</a:t>
            </a:r>
            <a:endParaRPr sz="2800"/>
          </a:p>
          <a:p>
            <a:pPr marL="0" lvl="0" indent="0" algn="l" rtl="0">
              <a:spcBef>
                <a:spcPts val="0"/>
              </a:spcBef>
              <a:spcAft>
                <a:spcPts val="0"/>
              </a:spcAft>
              <a:buClr>
                <a:schemeClr val="dk1"/>
              </a:buClr>
              <a:buSzPts val="1100"/>
              <a:buFont typeface="Arial"/>
              <a:buNone/>
            </a:pPr>
            <a:r>
              <a:rPr lang="en-US" sz="2800"/>
              <a:t>(Click around - this article is interactive in every detail!)</a:t>
            </a:r>
            <a:endParaRPr sz="2800"/>
          </a:p>
        </p:txBody>
      </p:sp>
      <p:sp>
        <p:nvSpPr>
          <p:cNvPr id="160" name="Google Shape;160;p21"/>
          <p:cNvSpPr txBox="1"/>
          <p:nvPr/>
        </p:nvSpPr>
        <p:spPr>
          <a:xfrm>
            <a:off x="1010250" y="764700"/>
            <a:ext cx="7188900" cy="616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sz="3600" b="1">
                <a:solidFill>
                  <a:schemeClr val="dk1"/>
                </a:solidFill>
                <a:latin typeface="Calibri"/>
                <a:ea typeface="Calibri"/>
                <a:cs typeface="Calibri"/>
                <a:sym typeface="Calibri"/>
              </a:rPr>
              <a:t>My AI &amp; AR setup</a:t>
            </a:r>
            <a:endParaRPr sz="3600" b="1">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tema">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tema">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844</Words>
  <Application>Microsoft Office PowerPoint</Application>
  <PresentationFormat>On-screen Show (4:3)</PresentationFormat>
  <Paragraphs>91</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Avenir</vt:lpstr>
      <vt:lpstr>Calibri</vt:lpstr>
      <vt:lpstr>Office-tema</vt:lpstr>
      <vt:lpstr>       AI and AR: (Re-)engineering a brain Joakim Pettersson</vt:lpstr>
      <vt:lpstr>Welcome</vt:lpstr>
      <vt:lpstr>Content</vt:lpstr>
      <vt:lpstr>Terminology</vt:lpstr>
      <vt:lpstr>Terminology</vt:lpstr>
      <vt:lpstr>Training</vt:lpstr>
      <vt:lpstr>Tools</vt:lpstr>
      <vt:lpstr>Thank you for participating!</vt:lpstr>
      <vt:lpstr>Demo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Joakim Pettersson</cp:lastModifiedBy>
  <cp:revision>1</cp:revision>
  <dcterms:modified xsi:type="dcterms:W3CDTF">2025-11-05T18:02:39Z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c387bd2-4550-4b88-bb36-4249f3161f85_Enabled">
    <vt:lpwstr>true</vt:lpwstr>
  </property>
  <property fmtid="{D5CDD505-2E9C-101B-9397-08002B2CF9AE}" pid="3" name="MSIP_Label_fc387bd2-4550-4b88-bb36-4249f3161f85_SetDate">
    <vt:lpwstr>2025-11-05T18:02:37Z</vt:lpwstr>
  </property>
  <property fmtid="{D5CDD505-2E9C-101B-9397-08002B2CF9AE}" pid="4" name="MSIP_Label_fc387bd2-4550-4b88-bb36-4249f3161f85_Method">
    <vt:lpwstr>Standard</vt:lpwstr>
  </property>
  <property fmtid="{D5CDD505-2E9C-101B-9397-08002B2CF9AE}" pid="5" name="MSIP_Label_fc387bd2-4550-4b88-bb36-4249f3161f85_Name">
    <vt:lpwstr>Internal</vt:lpwstr>
  </property>
  <property fmtid="{D5CDD505-2E9C-101B-9397-08002B2CF9AE}" pid="6" name="MSIP_Label_fc387bd2-4550-4b88-bb36-4249f3161f85_SiteId">
    <vt:lpwstr>ac8fadb0-dc67-40b0-9dc5-42d2de666556</vt:lpwstr>
  </property>
  <property fmtid="{D5CDD505-2E9C-101B-9397-08002B2CF9AE}" pid="7" name="MSIP_Label_fc387bd2-4550-4b88-bb36-4249f3161f85_ActionId">
    <vt:lpwstr>f7fb655a-bac7-48bb-8909-ed0168a36188</vt:lpwstr>
  </property>
  <property fmtid="{D5CDD505-2E9C-101B-9397-08002B2CF9AE}" pid="8" name="MSIP_Label_fc387bd2-4550-4b88-bb36-4249f3161f85_ContentBits">
    <vt:lpwstr>0</vt:lpwstr>
  </property>
  <property fmtid="{D5CDD505-2E9C-101B-9397-08002B2CF9AE}" pid="9" name="MSIP_Label_fc387bd2-4550-4b88-bb36-4249f3161f85_Tag">
    <vt:lpwstr>10, 3, 0, 1</vt:lpwstr>
  </property>
</Properties>
</file>